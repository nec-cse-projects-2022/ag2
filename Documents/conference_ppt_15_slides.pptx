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8288000" cy="10287000"/>
  <p:notesSz cx="6858000" cy="9144000"/>
  <p:embeddedFontLst>
    <p:embeddedFont>
      <p:font typeface="Neue Haas Grotesk Text Pro" panose="020B0504020202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2" y="3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LAM Thirupatamma" userId="b87cf864dc0d41c6" providerId="LiveId" clId="{D43F0559-77F4-4E78-9D79-25A3583CA10B}"/>
    <pc:docChg chg="undo redo custSel addSld delSld modSld">
      <pc:chgData name="KALLAM Thirupatamma" userId="b87cf864dc0d41c6" providerId="LiveId" clId="{D43F0559-77F4-4E78-9D79-25A3583CA10B}" dt="2026-02-10T15:42:10.793" v="337" actId="20577"/>
      <pc:docMkLst>
        <pc:docMk/>
      </pc:docMkLst>
      <pc:sldChg chg="addSp modSp mod">
        <pc:chgData name="KALLAM Thirupatamma" userId="b87cf864dc0d41c6" providerId="LiveId" clId="{D43F0559-77F4-4E78-9D79-25A3583CA10B}" dt="2026-02-10T15:42:10.793" v="337" actId="20577"/>
        <pc:sldMkLst>
          <pc:docMk/>
          <pc:sldMk cId="3830062181" sldId="268"/>
        </pc:sldMkLst>
        <pc:spChg chg="mod">
          <ac:chgData name="KALLAM Thirupatamma" userId="b87cf864dc0d41c6" providerId="LiveId" clId="{D43F0559-77F4-4E78-9D79-25A3583CA10B}" dt="2026-02-10T15:42:10.793" v="337" actId="20577"/>
          <ac:spMkLst>
            <pc:docMk/>
            <pc:sldMk cId="3830062181" sldId="268"/>
            <ac:spMk id="8" creationId="{639F1711-67F6-72FE-CBFA-8326441783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256" y="1155701"/>
            <a:ext cx="16173450" cy="50292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15645" spc="-213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1269" y="6310314"/>
            <a:ext cx="13842302" cy="2468880"/>
          </a:xfrm>
        </p:spPr>
        <p:txBody>
          <a:bodyPr>
            <a:normAutofit/>
          </a:bodyPr>
          <a:lstStyle>
            <a:lvl1pPr marL="0" indent="0" algn="l">
              <a:buNone/>
              <a:defRPr sz="5689">
                <a:solidFill>
                  <a:schemeClr val="bg1"/>
                </a:solidFill>
                <a:latin typeface="+mj-lt"/>
              </a:defRPr>
            </a:lvl1pPr>
            <a:lvl2pPr marL="812810" indent="0" algn="ctr">
              <a:buNone/>
              <a:defRPr sz="4978"/>
            </a:lvl2pPr>
            <a:lvl3pPr marL="1625620" indent="0" algn="ctr">
              <a:buNone/>
              <a:defRPr sz="4267"/>
            </a:lvl3pPr>
            <a:lvl4pPr marL="2438430" indent="0" algn="ctr">
              <a:buNone/>
              <a:defRPr sz="3556"/>
            </a:lvl4pPr>
            <a:lvl5pPr marL="3251241" indent="0" algn="ctr">
              <a:buNone/>
              <a:defRPr sz="3556"/>
            </a:lvl5pPr>
            <a:lvl6pPr marL="4064051" indent="0" algn="ctr">
              <a:buNone/>
              <a:defRPr sz="3556"/>
            </a:lvl6pPr>
            <a:lvl7pPr marL="4876861" indent="0" algn="ctr">
              <a:buNone/>
              <a:defRPr sz="3556"/>
            </a:lvl7pPr>
            <a:lvl8pPr marL="5689671" indent="0" algn="ctr">
              <a:buNone/>
              <a:defRPr sz="3556"/>
            </a:lvl8pPr>
            <a:lvl9pPr marL="6502481" indent="0" algn="ctr">
              <a:buNone/>
              <a:defRPr sz="3556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58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3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256" y="1151129"/>
            <a:ext cx="16171164" cy="503377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5645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268" y="6306314"/>
            <a:ext cx="13839444" cy="2468880"/>
          </a:xfrm>
        </p:spPr>
        <p:txBody>
          <a:bodyPr anchor="t">
            <a:normAutofit/>
          </a:bodyPr>
          <a:lstStyle>
            <a:lvl1pPr marL="0" indent="0">
              <a:buNone/>
              <a:defRPr sz="5689">
                <a:solidFill>
                  <a:schemeClr val="tx1"/>
                </a:solidFill>
                <a:latin typeface="+mj-lt"/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7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984" y="2997201"/>
            <a:ext cx="6995160" cy="5650992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16995" y="2997201"/>
            <a:ext cx="6995160" cy="5650992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97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984" y="3060701"/>
            <a:ext cx="6995160" cy="1085100"/>
          </a:xfrm>
        </p:spPr>
        <p:txBody>
          <a:bodyPr anchor="ctr">
            <a:normAutofit/>
          </a:bodyPr>
          <a:lstStyle>
            <a:lvl1pPr marL="0" indent="0">
              <a:buNone/>
              <a:defRPr sz="3911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4984" y="4129626"/>
            <a:ext cx="6995160" cy="4800600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11412" y="3057653"/>
            <a:ext cx="6995160" cy="1083564"/>
          </a:xfrm>
        </p:spPr>
        <p:txBody>
          <a:bodyPr anchor="ctr">
            <a:normAutofit/>
          </a:bodyPr>
          <a:lstStyle>
            <a:lvl1pPr marL="0" indent="0">
              <a:buNone/>
              <a:defRPr sz="3911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11412" y="4126485"/>
            <a:ext cx="6995160" cy="4800600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88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70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1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392106" y="813423"/>
            <a:ext cx="5074920" cy="288036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711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9144000" cy="6858000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13973" y="3767720"/>
            <a:ext cx="5097780" cy="4690481"/>
          </a:xfrm>
        </p:spPr>
        <p:txBody>
          <a:bodyPr>
            <a:normAutofit/>
          </a:bodyPr>
          <a:lstStyle>
            <a:lvl1pPr marL="0" marR="0" indent="0" algn="l" defTabSz="1625620" rtl="0" eaLnBrk="1" fontAlgn="auto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262626"/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marL="0" marR="0" lvl="0" indent="0" algn="l" defTabSz="1625620" rtl="0" eaLnBrk="1" fontAlgn="auto" latinLnBrk="0" hangingPunct="1">
              <a:lnSpc>
                <a:spcPct val="100000"/>
              </a:lnSpc>
              <a:spcBef>
                <a:spcPts val="24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07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836" y="8128001"/>
            <a:ext cx="16171164" cy="919925"/>
          </a:xfrm>
        </p:spPr>
        <p:txBody>
          <a:bodyPr anchor="b">
            <a:normAutofit/>
          </a:bodyPr>
          <a:lstStyle>
            <a:lvl1pPr>
              <a:defRPr sz="5689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8288000" cy="7996428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1422"/>
              </a:spcBef>
              <a:buNone/>
              <a:defRPr sz="568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4984" y="8864603"/>
            <a:ext cx="13844016" cy="8001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489">
                <a:solidFill>
                  <a:srgbClr val="262626"/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8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78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15925" y="1042988"/>
            <a:ext cx="3943350" cy="72009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7288" y="1071563"/>
            <a:ext cx="11601450" cy="810101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5837" y="749300"/>
            <a:ext cx="16159163" cy="2487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985" y="3017520"/>
            <a:ext cx="16130588" cy="5649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8700" y="9618671"/>
            <a:ext cx="61722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9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8700" y="9832046"/>
            <a:ext cx="75438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9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45889" y="8814619"/>
            <a:ext cx="4389120" cy="20955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8311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6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0"/>
            <a:ext cx="18288000" cy="2367724"/>
            <a:chOff x="1219199" y="-1"/>
            <a:chExt cx="24384000" cy="3156966"/>
          </a:xfrm>
        </p:grpSpPr>
        <p:sp>
          <p:nvSpPr>
            <p:cNvPr id="3" name="Freeform 3"/>
            <p:cNvSpPr/>
            <p:nvPr/>
          </p:nvSpPr>
          <p:spPr>
            <a:xfrm>
              <a:off x="1219199" y="-1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B13B83-956F-3B47-EB27-708331646890}"/>
              </a:ext>
            </a:extLst>
          </p:cNvPr>
          <p:cNvSpPr txBox="1"/>
          <p:nvPr/>
        </p:nvSpPr>
        <p:spPr>
          <a:xfrm>
            <a:off x="4254796" y="1977171"/>
            <a:ext cx="1060952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An Explainable Deep Learning Framework for Predicting Traffic Accident Risk and Identifying Critical Factors Using CNN-</a:t>
            </a:r>
            <a:r>
              <a:rPr lang="en-US" sz="2400" b="1" err="1">
                <a:latin typeface="Times New Roman"/>
                <a:cs typeface="Times New Roman"/>
              </a:rPr>
              <a:t>BiLSTM</a:t>
            </a:r>
            <a:r>
              <a:rPr lang="en-US" sz="2400" b="1">
                <a:latin typeface="Times New Roman"/>
                <a:cs typeface="Times New Roman"/>
              </a:rPr>
              <a:t>-Attention and SHAP </a:t>
            </a:r>
            <a:endParaRPr lang="en-IN" sz="2400" b="1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404E3-2279-A453-F04B-189DEC71AE20}"/>
              </a:ext>
            </a:extLst>
          </p:cNvPr>
          <p:cNvSpPr txBox="1"/>
          <p:nvPr/>
        </p:nvSpPr>
        <p:spPr>
          <a:xfrm>
            <a:off x="6172200" y="1601025"/>
            <a:ext cx="90678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>
                <a:latin typeface="Times New Roman"/>
                <a:cs typeface="Times New Roman"/>
              </a:rPr>
              <a:t>CMT Paper ID:</a:t>
            </a:r>
            <a:r>
              <a:rPr lang="en-IN" sz="2400">
                <a:latin typeface="Times New Roman"/>
                <a:cs typeface="Times New Roman"/>
              </a:rPr>
              <a:t> </a:t>
            </a:r>
            <a:r>
              <a:rPr lang="en-IN" sz="2400" i="1">
                <a:latin typeface="Times New Roman"/>
                <a:cs typeface="Times New Roman"/>
              </a:rPr>
              <a:t>144</a:t>
            </a:r>
            <a:endParaRPr lang="en-IN" sz="240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EBE9C-0BFD-1DA5-9C32-6471C5E5493D}"/>
              </a:ext>
            </a:extLst>
          </p:cNvPr>
          <p:cNvSpPr txBox="1"/>
          <p:nvPr/>
        </p:nvSpPr>
        <p:spPr>
          <a:xfrm>
            <a:off x="1461978" y="3467100"/>
            <a:ext cx="3338622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Times New Roman"/>
                <a:cs typeface="Times New Roman"/>
              </a:rPr>
              <a:t>Authors Name </a:t>
            </a:r>
          </a:p>
          <a:p>
            <a:r>
              <a:rPr lang="en-US" dirty="0"/>
              <a:t>1. Dr. S.V.N </a:t>
            </a:r>
            <a:r>
              <a:rPr lang="en-US"/>
              <a:t>Sreenivasu</a:t>
            </a:r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2. Kallam </a:t>
            </a:r>
            <a:r>
              <a:rPr lang="en-US" dirty="0" err="1"/>
              <a:t>Thirupatamma</a:t>
            </a:r>
            <a:endParaRPr lang="en-US" dirty="0" err="1">
              <a:ea typeface="Calibri"/>
              <a:cs typeface="Calibri"/>
            </a:endParaRPr>
          </a:p>
          <a:p>
            <a:r>
              <a:rPr lang="en-US" dirty="0"/>
              <a:t>3. </a:t>
            </a:r>
            <a:r>
              <a:rPr lang="en-US" dirty="0" err="1">
                <a:ea typeface="+mn-lt"/>
                <a:cs typeface="+mn-lt"/>
              </a:rPr>
              <a:t>Velangini</a:t>
            </a:r>
            <a:r>
              <a:rPr lang="en-US" dirty="0">
                <a:ea typeface="+mn-lt"/>
                <a:cs typeface="+mn-lt"/>
              </a:rPr>
              <a:t> Rani </a:t>
            </a:r>
            <a:r>
              <a:rPr lang="en-US" dirty="0" err="1">
                <a:ea typeface="+mn-lt"/>
                <a:cs typeface="+mn-lt"/>
              </a:rPr>
              <a:t>Biraka</a:t>
            </a:r>
            <a:endParaRPr lang="en-US" dirty="0">
              <a:ea typeface="+mn-lt"/>
              <a:cs typeface="+mn-lt"/>
            </a:endParaRPr>
          </a:p>
          <a:p>
            <a:r>
              <a:rPr lang="en-US" dirty="0"/>
              <a:t>4. </a:t>
            </a:r>
            <a:r>
              <a:rPr lang="en-US" dirty="0" err="1">
                <a:solidFill>
                  <a:srgbClr val="282828"/>
                </a:solidFill>
                <a:latin typeface="Calibri"/>
                <a:ea typeface="+mn-lt"/>
                <a:cs typeface="+mn-lt"/>
              </a:rPr>
              <a:t>yenumala</a:t>
            </a:r>
            <a:r>
              <a:rPr lang="en-US" dirty="0">
                <a:solidFill>
                  <a:srgbClr val="282828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282828"/>
                </a:solidFill>
                <a:latin typeface="Calibri"/>
                <a:ea typeface="+mn-lt"/>
                <a:cs typeface="+mn-lt"/>
              </a:rPr>
              <a:t>mythri</a:t>
            </a:r>
            <a:r>
              <a:rPr lang="en-US" dirty="0">
                <a:solidFill>
                  <a:srgbClr val="282828"/>
                </a:solidFill>
                <a:latin typeface="Calibri"/>
                <a:ea typeface="+mn-lt"/>
                <a:cs typeface="+mn-lt"/>
              </a:rPr>
              <a:t> 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/>
              <a:t>5. Neelima G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6. Malathi Latha T</a:t>
            </a:r>
            <a:endParaRPr lang="en-US" dirty="0">
              <a:ea typeface="Calibri"/>
              <a:cs typeface="Calibri"/>
            </a:endParaRPr>
          </a:p>
          <a:p>
            <a:r>
              <a:rPr lang="en-US" sz="2200" b="1" dirty="0">
                <a:latin typeface="Times New Roman"/>
                <a:cs typeface="Times New Roman"/>
              </a:rPr>
              <a:t>Affiliation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Dept. of CSE,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Narasaraopet Engineering College (1,2,3,4)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 Dept. of CSE, GRIET (5)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 Dept. of ETM, GNITS (6)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D9CB8-8B6F-3241-7B1F-9723D817B6B1}"/>
              </a:ext>
            </a:extLst>
          </p:cNvPr>
          <p:cNvSpPr txBox="1"/>
          <p:nvPr/>
        </p:nvSpPr>
        <p:spPr>
          <a:xfrm>
            <a:off x="11887200" y="3407033"/>
            <a:ext cx="3657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sz="2000"/>
              <a:t>Kallam Thirupatamma</a:t>
            </a:r>
          </a:p>
          <a:p>
            <a:endParaRPr lang="en-IN" sz="2000"/>
          </a:p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details </a:t>
            </a:r>
          </a:p>
          <a:p>
            <a:r>
              <a:rPr lang="en-IN" sz="2000" err="1">
                <a:cs typeface="Times New Roman" panose="02020603050405020304" pitchFamily="18" charset="0"/>
              </a:rPr>
              <a:t>Velangini</a:t>
            </a:r>
            <a:r>
              <a:rPr lang="en-IN" sz="2000">
                <a:cs typeface="Times New Roman" panose="02020603050405020304" pitchFamily="18" charset="0"/>
              </a:rPr>
              <a:t> Rani </a:t>
            </a:r>
            <a:r>
              <a:rPr lang="en-IN" sz="2000" err="1">
                <a:cs typeface="Times New Roman" panose="02020603050405020304" pitchFamily="18" charset="0"/>
              </a:rPr>
              <a:t>Biraka</a:t>
            </a:r>
            <a:endParaRPr lang="en-IN" sz="2000">
              <a:cs typeface="Times New Roman" panose="02020603050405020304" pitchFamily="18" charset="0"/>
            </a:endParaRPr>
          </a:p>
          <a:p>
            <a:r>
              <a:rPr lang="en-US" sz="2000" err="1">
                <a:ea typeface="+mn-lt"/>
                <a:cs typeface="+mn-lt"/>
              </a:rPr>
              <a:t>Yenumala</a:t>
            </a:r>
            <a:r>
              <a:rPr lang="en-US" sz="2000">
                <a:ea typeface="+mn-lt"/>
                <a:cs typeface="+mn-lt"/>
              </a:rPr>
              <a:t>  Mythri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08F901-D551-E680-4635-D9D6FD773EC7}"/>
              </a:ext>
            </a:extLst>
          </p:cNvPr>
          <p:cNvSpPr txBox="1"/>
          <p:nvPr/>
        </p:nvSpPr>
        <p:spPr>
          <a:xfrm>
            <a:off x="2502195" y="2886063"/>
            <a:ext cx="11213805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dirty="0">
                <a:latin typeface="Times New Roman"/>
                <a:cs typeface="Times New Roman"/>
              </a:rPr>
              <a:t>Content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❖Introduction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 ❖Problem Statements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❖Objectives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❖Methodology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❖Result &amp; Discussion </a:t>
            </a:r>
          </a:p>
          <a:p>
            <a:r>
              <a:rPr lang="en-IN" sz="2400" dirty="0">
                <a:latin typeface="Times New Roman"/>
                <a:cs typeface="Times New Roman"/>
              </a:rPr>
              <a:t>❖Conclusion &amp; Future Scope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4647E45C-F1CD-8AB8-9957-B7DBCCACFA03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47C010D4-627D-CA27-185E-14954FB2F1ED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2">
            <a:extLst>
              <a:ext uri="{FF2B5EF4-FFF2-40B4-BE49-F238E27FC236}">
                <a16:creationId xmlns:a16="http://schemas.microsoft.com/office/drawing/2014/main" id="{848E0A1D-6337-9BA1-5038-7B939E106F32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018E420-4EB5-58B8-B700-67F8DA732836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A0F901-B708-741F-BC2D-A91D0B1A37D4}"/>
              </a:ext>
            </a:extLst>
          </p:cNvPr>
          <p:cNvSpPr txBox="1"/>
          <p:nvPr/>
        </p:nvSpPr>
        <p:spPr>
          <a:xfrm>
            <a:off x="1447800" y="2552700"/>
            <a:ext cx="12268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Road traffic accidents are one of the major causes of death and injury worldwide.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Many factors such as weather, road condition, lighting, and driver behavior influence accident severity.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Predicting accident risk is complex due to the nonlinear and interrelated nature of these factors.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Traditional models like logistic regression and random forest give limited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Deep learning can automatically learn spatial and temporal patterns from large accident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However, most deep learning models act as black boxes, providing little explanation of their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Deep learning with interpretability helps to accurately predict and explain road accident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Hence, there is a need for an explainable model that is both accurate and interpretable</a:t>
            </a:r>
            <a:r>
              <a:rPr lang="en-US"/>
              <a:t>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47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AA3AA9-150D-5B6A-6000-7FAC87A1FF3D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11B54E0-4D80-931C-CF08-983AA24D10F3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4A8DD3A-364A-76C9-30BB-60C94F83B94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B8ED2C8-CBFA-8788-C605-598605C3D68A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A07438-20A4-F332-2A37-237AA932FAD1}"/>
              </a:ext>
            </a:extLst>
          </p:cNvPr>
          <p:cNvSpPr txBox="1"/>
          <p:nvPr/>
        </p:nvSpPr>
        <p:spPr>
          <a:xfrm>
            <a:off x="1295400" y="2628900"/>
            <a:ext cx="12420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Road accident prediction involves analyzing complex and interrelated factors such as weather, lighting, road type, and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Core Problem: Traditional machine learning models fail to effectively capture spatial and temporal dependencies in traffic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Deep learning models improve prediction accuracy but often behave as “black boxes”, offering no interpretability.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This lack of transparency limits their trust and adoption in real-world traffic management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Hence, there is a strong need for an Explainable Deep Learning Framework that provides both accurate predictions and clear feature importance for accident risk analysis.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24918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19593B-5DAA-3D0D-03FA-92645CFA99FD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71197A-7237-11B9-4873-8C88EB8A8A57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F286D97-EF1B-6C00-9F18-48BAA359E3C1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437DC82-2543-B446-7638-D5546D3973A7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686CFB-675E-B0B2-9FFC-21547244D806}"/>
              </a:ext>
            </a:extLst>
          </p:cNvPr>
          <p:cNvSpPr txBox="1"/>
          <p:nvPr/>
        </p:nvSpPr>
        <p:spPr>
          <a:xfrm>
            <a:off x="2133600" y="2781300"/>
            <a:ext cx="12420600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Objectives:</a:t>
            </a: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To design a hybrid deep learning framework combining CNN, </a:t>
            </a:r>
            <a:r>
              <a:rPr lang="en-US" sz="2400" err="1"/>
              <a:t>BiLSTM</a:t>
            </a:r>
            <a:r>
              <a:rPr lang="en-US" sz="2400"/>
              <a:t>, and Attention for accurate traffic accident risk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To handle imbalanced accident data using the </a:t>
            </a:r>
            <a:r>
              <a:rPr lang="en-US" sz="2400" err="1"/>
              <a:t>SMOTETomek</a:t>
            </a:r>
            <a:r>
              <a:rPr lang="en-US" sz="2400"/>
              <a:t> technique for better learning stability.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To apply SHAP (Shapley Additive Explanations) for interpreting the model’s predictions.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To identify key factors (e.g., weather, road type, lighting, time) influencing accident severity.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To ensure the proposed system is both accurate and explainable, improving trust and real-world usability.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73417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7DF89D-8956-20F2-EA87-E1B52D20C0D3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629C10-60E5-5088-2888-AA8EC79F2D07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B9B5DD2-F647-3AF7-79B3-57BDDD0A8D0A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EB802B9-BD5E-6892-34D9-F0C0B7D26856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9E6A5D7-5EAA-3D6C-0367-15510B791825}"/>
              </a:ext>
            </a:extLst>
          </p:cNvPr>
          <p:cNvSpPr txBox="1"/>
          <p:nvPr/>
        </p:nvSpPr>
        <p:spPr>
          <a:xfrm>
            <a:off x="837314" y="2578396"/>
            <a:ext cx="9516141" cy="5816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Methodology :</a:t>
            </a:r>
            <a:endParaRPr lang="en-US" sz="2400">
              <a:latin typeface="Times New Roman"/>
              <a:cs typeface="Times New Roman"/>
            </a:endParaRPr>
          </a:p>
          <a:p>
            <a:endParaRPr lang="en-US" sz="2400" b="1">
              <a:latin typeface="Times New Roman"/>
              <a:cs typeface="Times New Roman"/>
            </a:endParaRPr>
          </a:p>
          <a:p>
            <a:r>
              <a:rPr lang="en-US" sz="2400"/>
              <a:t>Proposed Explainable Deep Learning Framework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/>
              <a:t>The proposed methodology consists of </a:t>
            </a:r>
            <a:r>
              <a:rPr lang="en-US" sz="2400" b="1"/>
              <a:t>five major stages</a:t>
            </a:r>
            <a:r>
              <a:rPr lang="en-US"/>
              <a:t>: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1️⃣ </a:t>
            </a:r>
            <a:r>
              <a:rPr lang="en-US" sz="2400" b="1"/>
              <a:t>Data Collection:</a:t>
            </a:r>
            <a:endParaRPr lang="en-US" sz="2400" b="1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>
                <a:ea typeface="Calibri"/>
                <a:cs typeface="Calibri"/>
              </a:rPr>
              <a:t>Accident data obtained from </a:t>
            </a:r>
            <a:r>
              <a:rPr lang="en-US" sz="2400" b="1">
                <a:ea typeface="Calibri"/>
                <a:cs typeface="Calibri"/>
              </a:rPr>
              <a:t>UK STATS19</a:t>
            </a:r>
            <a:r>
              <a:rPr lang="en-US" sz="2400">
                <a:ea typeface="Calibri"/>
                <a:cs typeface="Calibri"/>
              </a:rPr>
              <a:t> and </a:t>
            </a:r>
            <a:r>
              <a:rPr lang="en-US" sz="2400" b="1">
                <a:ea typeface="Calibri"/>
                <a:cs typeface="Calibri"/>
              </a:rPr>
              <a:t>US Accident datasets</a:t>
            </a:r>
            <a:r>
              <a:rPr lang="en-US" sz="2400">
                <a:ea typeface="Calibri"/>
                <a:cs typeface="Calibri"/>
              </a:rPr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ea typeface="Calibri"/>
                <a:cs typeface="Calibri"/>
              </a:rPr>
              <a:t>Includes factors like weather, lighting, road type, vehicle type, and time.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ea typeface="Calibri"/>
                <a:cs typeface="Calibri"/>
              </a:rPr>
              <a:t>Provides a diverse, real-world dataset for training and testing.</a:t>
            </a:r>
          </a:p>
          <a:p>
            <a:endParaRPr lang="en-US" sz="2400">
              <a:ea typeface="Calibri"/>
              <a:cs typeface="Calibri"/>
            </a:endParaRPr>
          </a:p>
          <a:p>
            <a:r>
              <a:rPr lang="en-US" b="1"/>
              <a:t>2️⃣ </a:t>
            </a:r>
            <a:r>
              <a:rPr lang="en-US" sz="2400" b="1"/>
              <a:t>Data Preprocessing:</a:t>
            </a:r>
            <a:endParaRPr lang="en-US" sz="2400" b="1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/>
              <a:t>Handle missing and noisy values using imputation techniques.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/>
              <a:t>Perform label encoding for categorical features and normalization for numerical data.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/>
              <a:t>Remove irrelevant or redundant attributes.</a:t>
            </a:r>
            <a:endParaRPr lang="en-US" sz="2400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C6D420-9664-8EC3-5353-E41CFD072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2678" y="2575627"/>
            <a:ext cx="7258272" cy="582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0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89B7F9-158C-3412-C57D-AAEF92B962E0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FF0540-BB2A-09AE-1B25-8CE2E02F583C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35117BC-54DD-2C41-0916-8DB3A8A72F9B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0A3E2E3-EB94-B5CB-9C8B-E136F44A5270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F03CB0-C020-495F-21A9-EA7E93DDB088}"/>
              </a:ext>
            </a:extLst>
          </p:cNvPr>
          <p:cNvSpPr txBox="1"/>
          <p:nvPr/>
        </p:nvSpPr>
        <p:spPr>
          <a:xfrm>
            <a:off x="1754373" y="2578396"/>
            <a:ext cx="11961627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3️⃣ </a:t>
            </a:r>
            <a:r>
              <a:rPr lang="en-US" sz="2400" b="1" dirty="0">
                <a:latin typeface="Times New Roman"/>
                <a:cs typeface="Times New Roman"/>
              </a:rPr>
              <a:t>Data Balancing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Accident datasets are highly imbalanced — minor cases dominate over severe ones.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Apply </a:t>
            </a:r>
            <a:r>
              <a:rPr lang="en-US" sz="2400" dirty="0" err="1"/>
              <a:t>SMOTETomek</a:t>
            </a:r>
            <a:r>
              <a:rPr lang="en-US" sz="2400" dirty="0"/>
              <a:t> to oversample minority classes and clean overlapping samples.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Ensures balanced learning and prevents bias toward majority classes.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/>
          </a:p>
          <a:p>
            <a:r>
              <a:rPr lang="en-US" b="1" dirty="0"/>
              <a:t>4️⃣ </a:t>
            </a:r>
            <a:r>
              <a:rPr lang="en-US" sz="2400" b="1" dirty="0">
                <a:latin typeface="Times New Roman"/>
                <a:cs typeface="Times New Roman"/>
              </a:rPr>
              <a:t>Model Development</a:t>
            </a:r>
          </a:p>
          <a:p>
            <a:pPr marL="228600" indent="-228600">
              <a:buFont typeface=""/>
              <a:buChar char="•"/>
            </a:pPr>
            <a:r>
              <a:rPr lang="en-US" sz="2400" b="1" dirty="0"/>
              <a:t>CNN Layer:</a:t>
            </a:r>
            <a:r>
              <a:rPr lang="en-US" sz="2400" dirty="0"/>
              <a:t> Extracts spatial features from the input data.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dirty="0" err="1"/>
              <a:t>BiLSTM</a:t>
            </a:r>
            <a:r>
              <a:rPr lang="en-US" sz="2400" b="1" dirty="0"/>
              <a:t> Layer:</a:t>
            </a:r>
            <a:r>
              <a:rPr lang="en-US" sz="2400" dirty="0"/>
              <a:t> Learns temporal dependencies — how conditions evolve over time.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dirty="0"/>
              <a:t>Attention Layer:</a:t>
            </a:r>
            <a:r>
              <a:rPr lang="en-US" sz="2400" dirty="0"/>
              <a:t> Highlights key features that strongly influence outcomes.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dirty="0"/>
              <a:t>Dense Layer:</a:t>
            </a:r>
            <a:r>
              <a:rPr lang="en-US" sz="2400" dirty="0"/>
              <a:t> Generates the final accident severity prediction.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400" dirty="0"/>
          </a:p>
          <a:p>
            <a:r>
              <a:rPr lang="en-US" b="1" dirty="0"/>
              <a:t>5️⃣ </a:t>
            </a:r>
            <a:r>
              <a:rPr lang="en-US" sz="2400" b="1" dirty="0">
                <a:latin typeface="Times New Roman"/>
                <a:cs typeface="Times New Roman"/>
              </a:rPr>
              <a:t>Explainability with SHAP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SHAP (Shapley Additive Explanations) interprets model outputs.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Shows how each feature contributes (positively or negatively) to the prediction.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Identifies critical factors influencing traffic accidents.</a:t>
            </a:r>
            <a:endParaRPr lang="en-US" sz="2400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33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7617F8-8DED-057E-E5FC-CE9F1A88542F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80F94B-6026-D4DF-108E-E3BAA5676AED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DA2A45D-1973-13E4-CE98-0730C82342A3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5E09D9-CCE8-F11D-7C17-D7D602F95619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F18069B-60EA-A5CC-620F-5A50E7AC9336}"/>
              </a:ext>
            </a:extLst>
          </p:cNvPr>
          <p:cNvSpPr txBox="1"/>
          <p:nvPr/>
        </p:nvSpPr>
        <p:spPr>
          <a:xfrm>
            <a:off x="772867" y="2367725"/>
            <a:ext cx="10619269" cy="69249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Model Architecture (CNN–</a:t>
            </a:r>
            <a:r>
              <a:rPr lang="en-US" sz="2400" b="1" dirty="0" err="1">
                <a:latin typeface="Times New Roman"/>
                <a:cs typeface="Times New Roman"/>
              </a:rPr>
              <a:t>BiLSTM</a:t>
            </a:r>
            <a:r>
              <a:rPr lang="en-US" sz="2400" b="1" dirty="0">
                <a:latin typeface="Times New Roman"/>
                <a:cs typeface="Times New Roman"/>
              </a:rPr>
              <a:t>–Attention):</a:t>
            </a:r>
          </a:p>
          <a:p>
            <a:r>
              <a:rPr lang="en-US" sz="2400" dirty="0"/>
              <a:t>Proposed CNN–</a:t>
            </a:r>
            <a:r>
              <a:rPr lang="en-US" sz="2400" dirty="0" err="1"/>
              <a:t>BiLSTM</a:t>
            </a:r>
            <a:r>
              <a:rPr lang="en-US" sz="2400" dirty="0"/>
              <a:t>–Attention Model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The proposed model integrates Convolutional Neural Network (CNN), Bidirectional Long Short-Term Memory (</a:t>
            </a:r>
            <a:r>
              <a:rPr lang="en-US" sz="2400" dirty="0" err="1"/>
              <a:t>BiLSTM</a:t>
            </a:r>
            <a:r>
              <a:rPr lang="en-US" sz="2400" dirty="0"/>
              <a:t>), and Attention Mechanism.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Each component plays a specific role in feature extraction and sequence learning: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400" dirty="0"/>
          </a:p>
          <a:p>
            <a:r>
              <a:rPr lang="en-US" b="1" dirty="0"/>
              <a:t>1️⃣ </a:t>
            </a:r>
            <a:r>
              <a:rPr lang="en-US" sz="2400" b="1" dirty="0"/>
              <a:t>CNN Layer – Spatial Feature Extraction</a:t>
            </a:r>
            <a:endParaRPr lang="en-US" sz="2400" b="1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Learns spatial relationships among features such as weather, road type, and lighting.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Extracts local patterns and reduces noise through convolutional filters.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Outputs feature maps that represent spatial dependencies.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400" dirty="0"/>
          </a:p>
          <a:p>
            <a:r>
              <a:rPr lang="en-US" b="1" dirty="0"/>
              <a:t>2️⃣ </a:t>
            </a:r>
            <a:r>
              <a:rPr lang="en-US" sz="2400" b="1" dirty="0" err="1"/>
              <a:t>BiLSTM</a:t>
            </a:r>
            <a:r>
              <a:rPr lang="en-US" sz="2400" b="1" dirty="0"/>
              <a:t> Layer – Temporal Dependency Learning</a:t>
            </a:r>
            <a:endParaRPr lang="en-US" sz="2400" b="1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Processes sequential data (e.g., time, date, season) in both forward and backward directions.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Captures long-term temporal relationships and context in accident sequences.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Helps understand when and how accident risks vary with time.</a:t>
            </a:r>
            <a:endParaRPr lang="en-US" sz="2400" dirty="0">
              <a:ea typeface="Calibri"/>
              <a:cs typeface="Calibri"/>
            </a:endParaRPr>
          </a:p>
          <a:p>
            <a:endParaRPr lang="en-US" i="1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pic>
        <p:nvPicPr>
          <p:cNvPr id="7" name="Picture 6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C03A042E-9DA3-08EC-90FE-1749A394C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8914" y="4308292"/>
            <a:ext cx="6622090" cy="233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2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C11E99-60EE-17A3-82AC-600409225684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3D860C-3EE6-B944-3EB0-613D2FB70886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E5B26CE-1FF1-6D60-C476-82F17FFA10FF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AF33F0-3A06-233E-4F73-E9C6A6652E75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064B9A4-85A4-DEE3-349E-90EFA803AC64}"/>
              </a:ext>
            </a:extLst>
          </p:cNvPr>
          <p:cNvSpPr txBox="1"/>
          <p:nvPr/>
        </p:nvSpPr>
        <p:spPr>
          <a:xfrm>
            <a:off x="1591519" y="2568133"/>
            <a:ext cx="12124481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ea typeface="Calibri"/>
              <a:cs typeface="Calibri"/>
            </a:endParaRPr>
          </a:p>
          <a:p>
            <a:r>
              <a:rPr lang="en-US" b="1"/>
              <a:t>3️⃣</a:t>
            </a:r>
            <a:r>
              <a:rPr lang="en-US" sz="2400" b="1"/>
              <a:t> </a:t>
            </a:r>
            <a:r>
              <a:rPr lang="en-US" sz="2400" b="1">
                <a:latin typeface="Times New Roman"/>
                <a:cs typeface="Times New Roman"/>
              </a:rPr>
              <a:t>Attention Mechanism – Focus on Key Features</a:t>
            </a:r>
            <a:endParaRPr lang="en-US" sz="2400" b="1"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2400"/>
              <a:t>Assigns weights to important features learned from </a:t>
            </a:r>
            <a:r>
              <a:rPr lang="en-US" sz="2400" err="1"/>
              <a:t>BiLSTM</a:t>
            </a:r>
            <a:r>
              <a:rPr lang="en-US" sz="2400"/>
              <a:t> outputs.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/>
              <a:t>Allows the model to focus on critical information (like poor lighting or bad weather).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/>
              <a:t>Improves both accuracy and interpretability.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r>
              <a:rPr lang="en-US" b="1"/>
              <a:t>4️⃣ </a:t>
            </a:r>
            <a:r>
              <a:rPr lang="en-US" sz="2400" b="1">
                <a:latin typeface="Times New Roman"/>
                <a:cs typeface="Times New Roman"/>
              </a:rPr>
              <a:t>Output Layer</a:t>
            </a:r>
            <a:endParaRPr lang="en-US" b="1">
              <a:latin typeface="Calibri"/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/>
              <a:t>Produces the accident severity prediction (e.g., minor, serious, fatal).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/>
              <a:t>Uses a </a:t>
            </a:r>
            <a:r>
              <a:rPr lang="en-US" sz="2400" err="1"/>
              <a:t>softmax</a:t>
            </a:r>
            <a:r>
              <a:rPr lang="en-US" sz="2400"/>
              <a:t> activation for classification.</a:t>
            </a:r>
            <a:endParaRPr lang="en-US" sz="24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7183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1E3C4D-E25A-E9D5-694A-197222156AF1}"/>
              </a:ext>
            </a:extLst>
          </p:cNvPr>
          <p:cNvGrpSpPr/>
          <p:nvPr/>
        </p:nvGrpSpPr>
        <p:grpSpPr>
          <a:xfrm>
            <a:off x="159489" y="8025717"/>
            <a:ext cx="18288000" cy="2041861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D8B3F2-5881-23FD-E839-6ECD0EF268A1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024BA87-4432-8934-1F91-9F6C88719DFB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1DE807-1489-AC08-575E-752B8994A594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1A4C60-CB32-409B-1D9B-F44DB9143122}"/>
              </a:ext>
            </a:extLst>
          </p:cNvPr>
          <p:cNvSpPr txBox="1"/>
          <p:nvPr/>
        </p:nvSpPr>
        <p:spPr>
          <a:xfrm>
            <a:off x="1475773" y="2351108"/>
            <a:ext cx="1224022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3600" b="1" kern="1200">
                <a:solidFill>
                  <a:schemeClr val="tx1"/>
                </a:solidFill>
                <a:latin typeface="Neue Haas Grotesk Text Pro"/>
                <a:ea typeface="+mn-ea"/>
                <a:cs typeface="+mn-cs"/>
              </a:rPr>
              <a:t>Results and Analysis 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3E9C1-FDE8-AABC-2C4F-4C8A9145EE0F}"/>
              </a:ext>
            </a:extLst>
          </p:cNvPr>
          <p:cNvSpPr txBox="1"/>
          <p:nvPr/>
        </p:nvSpPr>
        <p:spPr>
          <a:xfrm>
            <a:off x="1634925" y="3392830"/>
            <a:ext cx="7668228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l" rtl="0"/>
            <a:r>
              <a:rPr lang="en-IN" sz="2400" dirty="0"/>
              <a:t>•SHAP means Shapley Additive Explanations.</a:t>
            </a:r>
            <a:endParaRPr lang="en-IN" sz="2400">
              <a:ea typeface="Calibri"/>
              <a:cs typeface="Calibri"/>
            </a:endParaRPr>
          </a:p>
          <a:p>
            <a:pPr marL="228600" indent="-228600" algn="l" rtl="0"/>
            <a:r>
              <a:rPr lang="en-IN" sz="2400" dirty="0"/>
              <a:t>•It helps to explain how the model makes decisions.</a:t>
            </a:r>
            <a:endParaRPr lang="en-IN" sz="2400">
              <a:ea typeface="Calibri"/>
              <a:cs typeface="Calibri"/>
            </a:endParaRPr>
          </a:p>
          <a:p>
            <a:pPr marL="228600" indent="-228600" algn="l" rtl="0"/>
            <a:r>
              <a:rPr lang="en-IN" sz="2400" dirty="0"/>
              <a:t>•Each feature’s importance is shown using bars.</a:t>
            </a:r>
            <a:endParaRPr lang="en-IN" sz="2400">
              <a:ea typeface="Calibri"/>
              <a:cs typeface="Calibri"/>
            </a:endParaRPr>
          </a:p>
          <a:p>
            <a:pPr marL="228600" indent="-228600" algn="l" rtl="0"/>
            <a:r>
              <a:rPr lang="en-IN" sz="2400" dirty="0"/>
              <a:t>•Top important factors: Weather, Hour, Traffic Signal, Visibility, and Temperature.</a:t>
            </a:r>
            <a:endParaRPr lang="en-IN" sz="2400">
              <a:ea typeface="Calibri"/>
              <a:cs typeface="Calibri"/>
            </a:endParaRPr>
          </a:p>
          <a:p>
            <a:pPr marL="228600" indent="-228600" algn="l" rtl="0"/>
            <a:r>
              <a:rPr lang="en-IN" sz="2400" dirty="0"/>
              <a:t>•These features affect how severe an accident can be.</a:t>
            </a:r>
            <a:endParaRPr lang="en-IN" sz="2400">
              <a:ea typeface="Calibri"/>
              <a:cs typeface="Calibri"/>
            </a:endParaRPr>
          </a:p>
          <a:p>
            <a:pPr marL="228600" indent="-228600" algn="l" rtl="0"/>
            <a:r>
              <a:rPr lang="en-IN" sz="2400" dirty="0"/>
              <a:t>•SHAP makes the model clear, understandable, and trustworthy.</a:t>
            </a:r>
            <a:endParaRPr lang="en-IN" sz="2400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9" name="Picture 8" descr="A graph of a number of blue bars">
            <a:extLst>
              <a:ext uri="{FF2B5EF4-FFF2-40B4-BE49-F238E27FC236}">
                <a16:creationId xmlns:a16="http://schemas.microsoft.com/office/drawing/2014/main" id="{25830C8F-B10C-E816-656F-2893F9A1B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403" y="2585142"/>
            <a:ext cx="6822494" cy="499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3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55DCB59-0D61-E48F-107B-8293ECD05B19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6183210-F56B-E86D-C4CA-F5189BDF913A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E24FAF25-EEB8-45D1-737E-23F3F65F608A}"/>
              </a:ext>
            </a:extLst>
          </p:cNvPr>
          <p:cNvSpPr/>
          <p:nvPr/>
        </p:nvSpPr>
        <p:spPr>
          <a:xfrm>
            <a:off x="0" y="89579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6" name="Picture 5" descr="A graph of dataset performance&#10;&#10;AI-generated content may be incorrect.">
            <a:extLst>
              <a:ext uri="{FF2B5EF4-FFF2-40B4-BE49-F238E27FC236}">
                <a16:creationId xmlns:a16="http://schemas.microsoft.com/office/drawing/2014/main" id="{B58E3368-8111-0DC9-6536-6D7BDD0BC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834" y="2257097"/>
            <a:ext cx="8678918" cy="57925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6AB1F9-47B4-6E13-5089-E8E17CE5E2ED}"/>
              </a:ext>
            </a:extLst>
          </p:cNvPr>
          <p:cNvSpPr txBox="1"/>
          <p:nvPr/>
        </p:nvSpPr>
        <p:spPr>
          <a:xfrm>
            <a:off x="709449" y="2581605"/>
            <a:ext cx="8651327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Performance Comparison of Proposed Model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The proposed CNN–</a:t>
            </a:r>
            <a:r>
              <a:rPr lang="en-US" sz="2400" err="1"/>
              <a:t>BiLSTM</a:t>
            </a:r>
            <a:r>
              <a:rPr lang="en-US" sz="2400" dirty="0"/>
              <a:t>–Attention model was tested on two datasets – UK and US traffic accident datasets.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Achieved accuracy of 87% (US) and 86% (UK), outperforming traditional models like Logistic Regression.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US dataset showed slightly better results due to higher data diversity and sample size.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MAE values (0.137 for US, 0.179 for UK) confirm low prediction error and stable learning.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Precision, Recall, and F1-scores are balanced across both datasets, showing consistent performance.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08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6A61C80F-9838-4883-7B91-0F006D5BB4D4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67413D5-9D25-7903-A5EA-053991C6E820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5A7E09B9-32DE-ED3C-B76D-0D9D7086C2AF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D9668-DC47-ED63-1960-40E9073E4458}"/>
              </a:ext>
            </a:extLst>
          </p:cNvPr>
          <p:cNvSpPr txBox="1"/>
          <p:nvPr/>
        </p:nvSpPr>
        <p:spPr>
          <a:xfrm>
            <a:off x="1123293" y="2581604"/>
            <a:ext cx="8276898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Conclusion</a:t>
            </a:r>
          </a:p>
          <a:p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Developed an Explainable Deep Learning Framework combining CNN–</a:t>
            </a:r>
            <a:r>
              <a:rPr lang="en-US" sz="2400" err="1"/>
              <a:t>BiLSTM</a:t>
            </a:r>
            <a:r>
              <a:rPr lang="en-US" sz="2400" dirty="0"/>
              <a:t>–Attention and SHAP.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Achieved high accuracy (≈86–87%) and low MAE (≈0.13) in accident risk prediction.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Successfully handled imbalanced data using </a:t>
            </a:r>
            <a:r>
              <a:rPr lang="en-US" sz="2400" err="1"/>
              <a:t>SMOTETomek</a:t>
            </a:r>
            <a:r>
              <a:rPr lang="en-US" sz="2400" dirty="0"/>
              <a:t> for improved model stability.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SHAP provided feature-level interpretability, identifying top factors such as:</a:t>
            </a:r>
            <a:endParaRPr lang="en-US" sz="2400" dirty="0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sz="2400" dirty="0"/>
              <a:t>Weather, Lighting, Road Type, Hour, and Visibility.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Ensures both accuracy and explainability, making AI predictions transparent.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Supports data-driven road safety planning and decision-making by traffic authorities.</a:t>
            </a:r>
            <a:endParaRPr lang="en-US" sz="2400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05C06-B729-2D20-D6F7-7FFC45267448}"/>
              </a:ext>
            </a:extLst>
          </p:cNvPr>
          <p:cNvSpPr txBox="1"/>
          <p:nvPr/>
        </p:nvSpPr>
        <p:spPr>
          <a:xfrm>
            <a:off x="10464362" y="2561897"/>
            <a:ext cx="6207671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Future Scope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Integrate real-time accident prediction using IoT and GPS sensor data.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Develop a web or mobile dashboard for live monitoring and visualization of risk zones.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Expand the framework for multi-class and multi-region accident prediction.</a:t>
            </a:r>
            <a:endParaRPr lang="en-US" sz="2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Apply video-based accident detection using Deep Learning and computer vision.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Extend SHAP interpretability for dynamic and real-time explanations.</a:t>
            </a:r>
            <a:endParaRPr lang="en-US" sz="24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/>
              <a:t>Collaborate with traffic departments to implement smart road safety systems.</a:t>
            </a:r>
            <a:endParaRPr lang="en-US" sz="2400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03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FFD2D4C4-99CF-00E5-53D3-43EF9065FC7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06E0440-980D-3EF6-D598-DF48B7FED97D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8BE14AAD-CE42-342F-A041-4EF4896736AA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F1711-67F6-72FE-CBFA-832644178397}"/>
              </a:ext>
            </a:extLst>
          </p:cNvPr>
          <p:cNvSpPr txBox="1"/>
          <p:nvPr/>
        </p:nvSpPr>
        <p:spPr>
          <a:xfrm>
            <a:off x="1193427" y="2571751"/>
            <a:ext cx="15211984" cy="66479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2400" b="1" kern="1200" dirty="0">
                <a:latin typeface="Neue Haas Grotesk Text Pro"/>
                <a:ea typeface="+mn-ea"/>
                <a:cs typeface="+mn-cs"/>
              </a:rPr>
              <a:t>References</a:t>
            </a:r>
            <a:endParaRPr lang="en-US" sz="2400" b="1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Wang et al., </a:t>
            </a:r>
            <a:r>
              <a:rPr lang="en-US" sz="2400" i="1" kern="1200" dirty="0">
                <a:latin typeface="Neue Haas Grotesk Text Pro"/>
                <a:ea typeface="+mn-ea"/>
                <a:cs typeface="+mn-cs"/>
              </a:rPr>
              <a:t>“Traffic Accident Risk Prediction Using Spatial–Temporal Attention Networks,”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 IEEE Access, 2024.</a:t>
            </a:r>
            <a:endParaRPr lang="en-US" sz="2400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Zheng et al., </a:t>
            </a:r>
            <a:r>
              <a:rPr lang="en-US" sz="2400" i="1" kern="1200" dirty="0">
                <a:latin typeface="Neue Haas Grotesk Text Pro"/>
                <a:ea typeface="+mn-ea"/>
                <a:cs typeface="+mn-cs"/>
              </a:rPr>
              <a:t>“CNN-Based Deep Learning Model for Accident Severity Prediction,”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 ResearchGate, 2019.</a:t>
            </a:r>
            <a:endParaRPr lang="en-US" sz="2400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Lundberg &amp; Lee, </a:t>
            </a:r>
            <a:r>
              <a:rPr lang="en-US" sz="2400" i="1" kern="1200" dirty="0">
                <a:latin typeface="Neue Haas Grotesk Text Pro"/>
                <a:ea typeface="+mn-ea"/>
                <a:cs typeface="+mn-cs"/>
              </a:rPr>
              <a:t>“A Unified Approach to Interpreting Model Predictions (SHAP),”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 </a:t>
            </a:r>
            <a:r>
              <a:rPr lang="en-US" sz="2400" kern="1200" dirty="0" err="1">
                <a:latin typeface="Neue Haas Grotesk Text Pro"/>
                <a:ea typeface="+mn-ea"/>
                <a:cs typeface="+mn-cs"/>
              </a:rPr>
              <a:t>NeurIPS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, 2017.</a:t>
            </a:r>
            <a:endParaRPr lang="en-US" sz="2400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Omar et al., </a:t>
            </a:r>
            <a:r>
              <a:rPr lang="en-US" sz="2400" i="1" kern="1200" dirty="0">
                <a:latin typeface="Neue Haas Grotesk Text Pro"/>
                <a:ea typeface="+mn-ea"/>
                <a:cs typeface="+mn-cs"/>
              </a:rPr>
              <a:t>“Explainable Deep Learning for Accident Forecasting,”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 ResearchGate, 2024.</a:t>
            </a:r>
            <a:endParaRPr lang="en-US" sz="2400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WHO, </a:t>
            </a:r>
            <a:r>
              <a:rPr lang="en-US" sz="2400" i="1" kern="1200" dirty="0">
                <a:latin typeface="Neue Haas Grotesk Text Pro"/>
                <a:ea typeface="+mn-ea"/>
                <a:cs typeface="+mn-cs"/>
              </a:rPr>
              <a:t>Global Road Safety Report,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 2022.</a:t>
            </a:r>
            <a:endParaRPr lang="en-US" sz="2400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Thakur &amp; Verma, </a:t>
            </a:r>
            <a:r>
              <a:rPr lang="en-US" sz="2400" i="1" kern="1200" dirty="0">
                <a:latin typeface="Neue Haas Grotesk Text Pro"/>
                <a:ea typeface="+mn-ea"/>
                <a:cs typeface="+mn-cs"/>
              </a:rPr>
              <a:t>“IoT-Based Vehicle Safety Alert System,”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 2022.</a:t>
            </a:r>
            <a:endParaRPr lang="en-US" sz="2400" kern="1200" dirty="0">
              <a:latin typeface="Neue Haas Grotesk Text Pro"/>
            </a:endParaRPr>
          </a:p>
          <a:p>
            <a:pPr marL="0" indent="-228600" algn="l" rtl="0">
              <a:buFont typeface="Arial"/>
              <a:buChar char="•"/>
            </a:pPr>
            <a:endParaRPr lang="en-IN" sz="2400" dirty="0">
              <a:ea typeface="Calibri"/>
              <a:cs typeface="Calibri"/>
            </a:endParaRPr>
          </a:p>
          <a:p>
            <a:pPr marL="0" algn="l" rtl="0"/>
            <a:r>
              <a:rPr lang="en-US" sz="2400" b="1" kern="1200" dirty="0">
                <a:latin typeface="Neue Haas Grotesk Text Pro"/>
                <a:ea typeface="+mn-ea"/>
                <a:cs typeface="+mn-cs"/>
              </a:rPr>
              <a:t>Acknowledgements</a:t>
            </a:r>
            <a:endParaRPr lang="en-US" sz="2400" b="1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We sincerely thank our </a:t>
            </a:r>
            <a:r>
              <a:rPr lang="en-US" sz="2400" b="1" kern="1200" dirty="0">
                <a:latin typeface="Neue Haas Grotesk Text Pro"/>
                <a:ea typeface="+mn-ea"/>
                <a:cs typeface="+mn-cs"/>
              </a:rPr>
              <a:t>guide, Dr. S. V. N. </a:t>
            </a:r>
            <a:r>
              <a:rPr lang="en-US" sz="2400" b="1" kern="1200">
                <a:latin typeface="Neue Haas Grotesk Text Pro"/>
                <a:ea typeface="+mn-ea"/>
                <a:cs typeface="+mn-cs"/>
              </a:rPr>
              <a:t>Sreenivasu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, Professor &amp; Head, Department of CSE, for his continuous guidance and encouragement.</a:t>
            </a:r>
            <a:endParaRPr lang="en-US" sz="2400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We extend our gratitude to the </a:t>
            </a:r>
            <a:r>
              <a:rPr lang="en-US" sz="2400" b="1" kern="1200" dirty="0">
                <a:latin typeface="Neue Haas Grotesk Text Pro"/>
                <a:ea typeface="+mn-ea"/>
                <a:cs typeface="+mn-cs"/>
              </a:rPr>
              <a:t>Department of Computer Science and Engineering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, </a:t>
            </a:r>
            <a:r>
              <a:rPr lang="en-US" sz="2400" b="1" kern="1200" dirty="0" err="1">
                <a:latin typeface="Neue Haas Grotesk Text Pro"/>
                <a:ea typeface="+mn-ea"/>
                <a:cs typeface="+mn-cs"/>
              </a:rPr>
              <a:t>Narasaraopeta</a:t>
            </a:r>
            <a:r>
              <a:rPr lang="en-US" sz="2400" b="1" kern="1200" dirty="0">
                <a:latin typeface="Neue Haas Grotesk Text Pro"/>
                <a:ea typeface="+mn-ea"/>
                <a:cs typeface="+mn-cs"/>
              </a:rPr>
              <a:t> Engineering College (Autonomous)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 for providing the necessary support and facilities.</a:t>
            </a:r>
            <a:endParaRPr lang="en-US" sz="2400" kern="1200" dirty="0">
              <a:latin typeface="Neue Haas Grotesk Text Pro"/>
            </a:endParaRPr>
          </a:p>
          <a:p>
            <a:pPr marL="228600" indent="-228600" algn="l" rtl="0">
              <a:buFont typeface="Arial"/>
              <a:buChar char="•"/>
            </a:pPr>
            <a:r>
              <a:rPr lang="en-US" sz="2400" kern="1200" dirty="0">
                <a:latin typeface="Neue Haas Grotesk Text Pro"/>
                <a:ea typeface="+mn-ea"/>
                <a:cs typeface="+mn-cs"/>
              </a:rPr>
              <a:t>We also thank our </a:t>
            </a:r>
            <a:r>
              <a:rPr lang="en-US" sz="2400" b="1" kern="1200" dirty="0">
                <a:latin typeface="Neue Haas Grotesk Text Pro"/>
                <a:ea typeface="+mn-ea"/>
                <a:cs typeface="+mn-cs"/>
              </a:rPr>
              <a:t>friends and family members</a:t>
            </a:r>
            <a:r>
              <a:rPr lang="en-US" sz="2400" kern="1200" dirty="0">
                <a:latin typeface="Neue Haas Grotesk Text Pro"/>
                <a:ea typeface="+mn-ea"/>
                <a:cs typeface="+mn-cs"/>
              </a:rPr>
              <a:t> for their motivation and help throughout the project.</a:t>
            </a:r>
            <a:endParaRPr lang="en-US" sz="2400" kern="1200" dirty="0">
              <a:latin typeface="Neue Haas Grotesk Text Pro"/>
            </a:endParaRPr>
          </a:p>
          <a:p>
            <a:pPr marL="228600" indent="-2286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Finally, we would like to thank the </a:t>
            </a:r>
            <a:r>
              <a:rPr lang="en-US" sz="2400" b="1" dirty="0">
                <a:ea typeface="+mn-lt"/>
                <a:cs typeface="+mn-lt"/>
              </a:rPr>
              <a:t>INCOWOCO 2025 Conference Committee for giving us the opportunity to present our research work on such a prestigious platform.</a:t>
            </a:r>
            <a:endParaRPr lang="en-US" sz="2400" dirty="0">
              <a:ea typeface="+mn-lt"/>
              <a:cs typeface="+mn-lt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062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2EE21631-EF74-ED65-6F60-49D642E43B8E}"/>
              </a:ext>
            </a:extLst>
          </p:cNvPr>
          <p:cNvSpPr/>
          <p:nvPr/>
        </p:nvSpPr>
        <p:spPr>
          <a:xfrm>
            <a:off x="1" y="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1174970C-5EE1-0796-9709-2E85469AE18D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47FC2-0AA4-42F5-F574-48E85AF931A6}"/>
              </a:ext>
            </a:extLst>
          </p:cNvPr>
          <p:cNvSpPr txBox="1"/>
          <p:nvPr/>
        </p:nvSpPr>
        <p:spPr>
          <a:xfrm flipH="1">
            <a:off x="6775463" y="5145413"/>
            <a:ext cx="5072902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/>
                <a:ea typeface="Calibri"/>
                <a:cs typeface="Calibri"/>
              </a:rPr>
              <a:t>THANK 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sz="4000" b="1" dirty="0">
                <a:latin typeface="Times New Roman"/>
                <a:ea typeface="Calibri"/>
                <a:cs typeface="Calibri"/>
              </a:rPr>
              <a:t>YOU</a:t>
            </a:r>
            <a:endParaRPr lang="en-US" sz="4000" b="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923458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1411</Words>
  <Application>Microsoft Office PowerPoint</Application>
  <PresentationFormat>Custom</PresentationFormat>
  <Paragraphs>185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Neue Haas Grotesk Text Pro</vt:lpstr>
      <vt:lpstr>Calibri Light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Participant template</dc:title>
  <cp:lastModifiedBy>KALLAM Thirupatamma</cp:lastModifiedBy>
  <cp:revision>94</cp:revision>
  <dcterms:created xsi:type="dcterms:W3CDTF">2006-08-16T00:00:00Z</dcterms:created>
  <dcterms:modified xsi:type="dcterms:W3CDTF">2026-02-10T15:42:18Z</dcterms:modified>
  <dc:identifier>DAG4ZDko4pY</dc:identifier>
</cp:coreProperties>
</file>