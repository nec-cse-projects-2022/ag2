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4"/>
  </p:notesMasterIdLst>
  <p:handoutMasterIdLst>
    <p:handoutMasterId r:id="rId35"/>
  </p:handoutMasterIdLst>
  <p:sldIdLst>
    <p:sldId id="312" r:id="rId2"/>
    <p:sldId id="258" r:id="rId3"/>
    <p:sldId id="260" r:id="rId4"/>
    <p:sldId id="262" r:id="rId5"/>
    <p:sldId id="279" r:id="rId6"/>
    <p:sldId id="263" r:id="rId7"/>
    <p:sldId id="264" r:id="rId8"/>
    <p:sldId id="270" r:id="rId9"/>
    <p:sldId id="280" r:id="rId10"/>
    <p:sldId id="266" r:id="rId11"/>
    <p:sldId id="268" r:id="rId12"/>
    <p:sldId id="301" r:id="rId13"/>
    <p:sldId id="285" r:id="rId14"/>
    <p:sldId id="281" r:id="rId15"/>
    <p:sldId id="303" r:id="rId16"/>
    <p:sldId id="305" r:id="rId17"/>
    <p:sldId id="296" r:id="rId18"/>
    <p:sldId id="304" r:id="rId19"/>
    <p:sldId id="271" r:id="rId20"/>
    <p:sldId id="297" r:id="rId21"/>
    <p:sldId id="272" r:id="rId22"/>
    <p:sldId id="299" r:id="rId23"/>
    <p:sldId id="287" r:id="rId24"/>
    <p:sldId id="286" r:id="rId25"/>
    <p:sldId id="313" r:id="rId26"/>
    <p:sldId id="273" r:id="rId27"/>
    <p:sldId id="311" r:id="rId28"/>
    <p:sldId id="278" r:id="rId29"/>
    <p:sldId id="288" r:id="rId30"/>
    <p:sldId id="289" r:id="rId31"/>
    <p:sldId id="275" r:id="rId32"/>
    <p:sldId id="27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8D2E05-FD19-450F-B855-99CA5B6465F0}" v="2" dt="2026-02-10T13:42:57.6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659" autoAdjust="0"/>
    <p:restoredTop sz="94660"/>
  </p:normalViewPr>
  <p:slideViewPr>
    <p:cSldViewPr snapToGrid="0">
      <p:cViewPr varScale="1">
        <p:scale>
          <a:sx n="75" d="100"/>
          <a:sy n="75" d="100"/>
        </p:scale>
        <p:origin x="48" y="504"/>
      </p:cViewPr>
      <p:guideLst/>
    </p:cSldViewPr>
  </p:slideViewPr>
  <p:notesTextViewPr>
    <p:cViewPr>
      <p:scale>
        <a:sx n="1" d="1"/>
        <a:sy n="1" d="1"/>
      </p:scale>
      <p:origin x="0" y="0"/>
    </p:cViewPr>
  </p:notesTextViewPr>
  <p:notesViewPr>
    <p:cSldViewPr snapToGrid="0">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LLAM Thirupatamma" userId="b87cf864dc0d41c6" providerId="LiveId" clId="{D43F0559-77F4-4E78-9D79-25A3583CA10B}"/>
    <pc:docChg chg="undo redo custSel addSld delSld modSld sldOrd">
      <pc:chgData name="KALLAM Thirupatamma" userId="b87cf864dc0d41c6" providerId="LiveId" clId="{D43F0559-77F4-4E78-9D79-25A3583CA10B}" dt="2026-02-10T13:45:21.629" v="1751" actId="14100"/>
      <pc:docMkLst>
        <pc:docMk/>
      </pc:docMkLst>
      <pc:sldChg chg="ord">
        <pc:chgData name="KALLAM Thirupatamma" userId="b87cf864dc0d41c6" providerId="LiveId" clId="{D43F0559-77F4-4E78-9D79-25A3583CA10B}" dt="2026-02-10T13:39:02.519" v="1710"/>
        <pc:sldMkLst>
          <pc:docMk/>
          <pc:sldMk cId="1769691040" sldId="258"/>
        </pc:sldMkLst>
      </pc:sldChg>
      <pc:sldChg chg="modSp mod">
        <pc:chgData name="KALLAM Thirupatamma" userId="b87cf864dc0d41c6" providerId="LiveId" clId="{D43F0559-77F4-4E78-9D79-25A3583CA10B}" dt="2026-02-02T04:42:23.657" v="1607" actId="20577"/>
        <pc:sldMkLst>
          <pc:docMk/>
          <pc:sldMk cId="112123729" sldId="266"/>
        </pc:sldMkLst>
        <pc:spChg chg="mod">
          <ac:chgData name="KALLAM Thirupatamma" userId="b87cf864dc0d41c6" providerId="LiveId" clId="{D43F0559-77F4-4E78-9D79-25A3583CA10B}" dt="2026-02-02T04:42:23.657" v="1607" actId="20577"/>
          <ac:spMkLst>
            <pc:docMk/>
            <pc:sldMk cId="112123729" sldId="266"/>
            <ac:spMk id="6" creationId="{AE9B4454-96E6-70D8-1440-2142487397DF}"/>
          </ac:spMkLst>
        </pc:spChg>
      </pc:sldChg>
      <pc:sldChg chg="addSp delSp modSp mod">
        <pc:chgData name="KALLAM Thirupatamma" userId="b87cf864dc0d41c6" providerId="LiveId" clId="{D43F0559-77F4-4E78-9D79-25A3583CA10B}" dt="2026-02-02T04:42:06.068" v="1601" actId="20577"/>
        <pc:sldMkLst>
          <pc:docMk/>
          <pc:sldMk cId="2137029075" sldId="268"/>
        </pc:sldMkLst>
        <pc:spChg chg="mod">
          <ac:chgData name="KALLAM Thirupatamma" userId="b87cf864dc0d41c6" providerId="LiveId" clId="{D43F0559-77F4-4E78-9D79-25A3583CA10B}" dt="2026-02-02T04:42:06.068" v="1601" actId="20577"/>
          <ac:spMkLst>
            <pc:docMk/>
            <pc:sldMk cId="2137029075" sldId="268"/>
            <ac:spMk id="6" creationId="{AE9B4454-96E6-70D8-1440-2142487397DF}"/>
          </ac:spMkLst>
        </pc:spChg>
      </pc:sldChg>
      <pc:sldChg chg="modSp mod">
        <pc:chgData name="KALLAM Thirupatamma" userId="b87cf864dc0d41c6" providerId="LiveId" clId="{D43F0559-77F4-4E78-9D79-25A3583CA10B}" dt="2026-02-02T04:42:35.050" v="1615" actId="20577"/>
        <pc:sldMkLst>
          <pc:docMk/>
          <pc:sldMk cId="1259738044" sldId="270"/>
        </pc:sldMkLst>
        <pc:spChg chg="mod">
          <ac:chgData name="KALLAM Thirupatamma" userId="b87cf864dc0d41c6" providerId="LiveId" clId="{D43F0559-77F4-4E78-9D79-25A3583CA10B}" dt="2026-02-02T04:42:35.050" v="1615" actId="20577"/>
          <ac:spMkLst>
            <pc:docMk/>
            <pc:sldMk cId="1259738044" sldId="270"/>
            <ac:spMk id="6" creationId="{AE9B4454-96E6-70D8-1440-2142487397DF}"/>
          </ac:spMkLst>
        </pc:spChg>
      </pc:sldChg>
      <pc:sldChg chg="modSp mod">
        <pc:chgData name="KALLAM Thirupatamma" userId="b87cf864dc0d41c6" providerId="LiveId" clId="{D43F0559-77F4-4E78-9D79-25A3583CA10B}" dt="2026-02-02T04:44:00.568" v="1655" actId="20577"/>
        <pc:sldMkLst>
          <pc:docMk/>
          <pc:sldMk cId="2725540961" sldId="271"/>
        </pc:sldMkLst>
        <pc:spChg chg="mod">
          <ac:chgData name="KALLAM Thirupatamma" userId="b87cf864dc0d41c6" providerId="LiveId" clId="{D43F0559-77F4-4E78-9D79-25A3583CA10B}" dt="2026-02-02T04:44:00.568" v="1655" actId="20577"/>
          <ac:spMkLst>
            <pc:docMk/>
            <pc:sldMk cId="2725540961" sldId="271"/>
            <ac:spMk id="6" creationId="{AE9B4454-96E6-70D8-1440-2142487397DF}"/>
          </ac:spMkLst>
        </pc:spChg>
      </pc:sldChg>
      <pc:sldChg chg="modSp mod">
        <pc:chgData name="KALLAM Thirupatamma" userId="b87cf864dc0d41c6" providerId="LiveId" clId="{D43F0559-77F4-4E78-9D79-25A3583CA10B}" dt="2026-02-02T04:44:29.701" v="1663" actId="20577"/>
        <pc:sldMkLst>
          <pc:docMk/>
          <pc:sldMk cId="1799690858" sldId="272"/>
        </pc:sldMkLst>
        <pc:spChg chg="mod">
          <ac:chgData name="KALLAM Thirupatamma" userId="b87cf864dc0d41c6" providerId="LiveId" clId="{D43F0559-77F4-4E78-9D79-25A3583CA10B}" dt="2026-02-02T04:44:29.701" v="1663" actId="20577"/>
          <ac:spMkLst>
            <pc:docMk/>
            <pc:sldMk cId="1799690858" sldId="272"/>
            <ac:spMk id="6" creationId="{AE9B4454-96E6-70D8-1440-2142487397DF}"/>
          </ac:spMkLst>
        </pc:spChg>
      </pc:sldChg>
      <pc:sldChg chg="modSp mod">
        <pc:chgData name="KALLAM Thirupatamma" userId="b87cf864dc0d41c6" providerId="LiveId" clId="{D43F0559-77F4-4E78-9D79-25A3583CA10B}" dt="2026-02-02T04:45:10.596" v="1683" actId="20577"/>
        <pc:sldMkLst>
          <pc:docMk/>
          <pc:sldMk cId="2711103795" sldId="273"/>
        </pc:sldMkLst>
        <pc:spChg chg="mod">
          <ac:chgData name="KALLAM Thirupatamma" userId="b87cf864dc0d41c6" providerId="LiveId" clId="{D43F0559-77F4-4E78-9D79-25A3583CA10B}" dt="2026-02-02T04:45:10.596" v="1683" actId="20577"/>
          <ac:spMkLst>
            <pc:docMk/>
            <pc:sldMk cId="2711103795" sldId="273"/>
            <ac:spMk id="6" creationId="{AE9B4454-96E6-70D8-1440-2142487397DF}"/>
          </ac:spMkLst>
        </pc:spChg>
      </pc:sldChg>
      <pc:sldChg chg="modSp mod">
        <pc:chgData name="KALLAM Thirupatamma" userId="b87cf864dc0d41c6" providerId="LiveId" clId="{D43F0559-77F4-4E78-9D79-25A3583CA10B}" dt="2026-02-02T04:45:56.998" v="1703" actId="20577"/>
        <pc:sldMkLst>
          <pc:docMk/>
          <pc:sldMk cId="2924977210" sldId="275"/>
        </pc:sldMkLst>
        <pc:spChg chg="mod">
          <ac:chgData name="KALLAM Thirupatamma" userId="b87cf864dc0d41c6" providerId="LiveId" clId="{D43F0559-77F4-4E78-9D79-25A3583CA10B}" dt="2026-02-02T04:45:56.998" v="1703" actId="20577"/>
          <ac:spMkLst>
            <pc:docMk/>
            <pc:sldMk cId="2924977210" sldId="275"/>
            <ac:spMk id="6" creationId="{AE9B4454-96E6-70D8-1440-2142487397DF}"/>
          </ac:spMkLst>
        </pc:spChg>
      </pc:sldChg>
      <pc:sldChg chg="modSp mod">
        <pc:chgData name="KALLAM Thirupatamma" userId="b87cf864dc0d41c6" providerId="LiveId" clId="{D43F0559-77F4-4E78-9D79-25A3583CA10B}" dt="2026-02-02T04:46:07.891" v="1707" actId="20577"/>
        <pc:sldMkLst>
          <pc:docMk/>
          <pc:sldMk cId="168791731" sldId="277"/>
        </pc:sldMkLst>
        <pc:spChg chg="mod">
          <ac:chgData name="KALLAM Thirupatamma" userId="b87cf864dc0d41c6" providerId="LiveId" clId="{D43F0559-77F4-4E78-9D79-25A3583CA10B}" dt="2026-02-02T04:46:07.891" v="1707" actId="20577"/>
          <ac:spMkLst>
            <pc:docMk/>
            <pc:sldMk cId="168791731" sldId="277"/>
            <ac:spMk id="6" creationId="{AE9B4454-96E6-70D8-1440-2142487397DF}"/>
          </ac:spMkLst>
        </pc:spChg>
      </pc:sldChg>
      <pc:sldChg chg="modSp mod">
        <pc:chgData name="KALLAM Thirupatamma" userId="b87cf864dc0d41c6" providerId="LiveId" clId="{D43F0559-77F4-4E78-9D79-25A3583CA10B}" dt="2026-02-02T04:45:26.152" v="1691" actId="20577"/>
        <pc:sldMkLst>
          <pc:docMk/>
          <pc:sldMk cId="2153494554" sldId="278"/>
        </pc:sldMkLst>
        <pc:spChg chg="mod">
          <ac:chgData name="KALLAM Thirupatamma" userId="b87cf864dc0d41c6" providerId="LiveId" clId="{D43F0559-77F4-4E78-9D79-25A3583CA10B}" dt="2026-02-02T04:45:26.152" v="1691" actId="20577"/>
          <ac:spMkLst>
            <pc:docMk/>
            <pc:sldMk cId="2153494554" sldId="278"/>
            <ac:spMk id="6" creationId="{AE9B4454-96E6-70D8-1440-2142487397DF}"/>
          </ac:spMkLst>
        </pc:spChg>
      </pc:sldChg>
      <pc:sldChg chg="modSp mod">
        <pc:chgData name="KALLAM Thirupatamma" userId="b87cf864dc0d41c6" providerId="LiveId" clId="{D43F0559-77F4-4E78-9D79-25A3583CA10B}" dt="2026-02-02T04:43:15.186" v="1633" actId="20577"/>
        <pc:sldMkLst>
          <pc:docMk/>
          <pc:sldMk cId="3195133904" sldId="281"/>
        </pc:sldMkLst>
        <pc:spChg chg="mod">
          <ac:chgData name="KALLAM Thirupatamma" userId="b87cf864dc0d41c6" providerId="LiveId" clId="{D43F0559-77F4-4E78-9D79-25A3583CA10B}" dt="2026-02-02T04:43:15.186" v="1633" actId="20577"/>
          <ac:spMkLst>
            <pc:docMk/>
            <pc:sldMk cId="3195133904" sldId="281"/>
            <ac:spMk id="6" creationId="{AE9B4454-96E6-70D8-1440-2142487397DF}"/>
          </ac:spMkLst>
        </pc:spChg>
      </pc:sldChg>
      <pc:sldChg chg="modSp mod">
        <pc:chgData name="KALLAM Thirupatamma" userId="b87cf864dc0d41c6" providerId="LiveId" clId="{D43F0559-77F4-4E78-9D79-25A3583CA10B}" dt="2026-02-02T04:43:03.234" v="1629" actId="20577"/>
        <pc:sldMkLst>
          <pc:docMk/>
          <pc:sldMk cId="4248642105" sldId="285"/>
        </pc:sldMkLst>
        <pc:spChg chg="mod">
          <ac:chgData name="KALLAM Thirupatamma" userId="b87cf864dc0d41c6" providerId="LiveId" clId="{D43F0559-77F4-4E78-9D79-25A3583CA10B}" dt="2026-02-02T04:43:03.234" v="1629" actId="20577"/>
          <ac:spMkLst>
            <pc:docMk/>
            <pc:sldMk cId="4248642105" sldId="285"/>
            <ac:spMk id="6" creationId="{AE9B4454-96E6-70D8-1440-2142487397DF}"/>
          </ac:spMkLst>
        </pc:spChg>
      </pc:sldChg>
      <pc:sldChg chg="modSp mod">
        <pc:chgData name="KALLAM Thirupatamma" userId="b87cf864dc0d41c6" providerId="LiveId" clId="{D43F0559-77F4-4E78-9D79-25A3583CA10B}" dt="2026-02-02T04:44:59.484" v="1679" actId="20577"/>
        <pc:sldMkLst>
          <pc:docMk/>
          <pc:sldMk cId="2910079858" sldId="286"/>
        </pc:sldMkLst>
        <pc:spChg chg="mod">
          <ac:chgData name="KALLAM Thirupatamma" userId="b87cf864dc0d41c6" providerId="LiveId" clId="{D43F0559-77F4-4E78-9D79-25A3583CA10B}" dt="2026-02-02T04:44:59.484" v="1679" actId="20577"/>
          <ac:spMkLst>
            <pc:docMk/>
            <pc:sldMk cId="2910079858" sldId="286"/>
            <ac:spMk id="6" creationId="{AE9B4454-96E6-70D8-1440-2142487397DF}"/>
          </ac:spMkLst>
        </pc:spChg>
      </pc:sldChg>
      <pc:sldChg chg="modSp mod">
        <pc:chgData name="KALLAM Thirupatamma" userId="b87cf864dc0d41c6" providerId="LiveId" clId="{D43F0559-77F4-4E78-9D79-25A3583CA10B}" dt="2026-02-02T04:44:47.887" v="1675" actId="20577"/>
        <pc:sldMkLst>
          <pc:docMk/>
          <pc:sldMk cId="135078349" sldId="287"/>
        </pc:sldMkLst>
        <pc:spChg chg="mod">
          <ac:chgData name="KALLAM Thirupatamma" userId="b87cf864dc0d41c6" providerId="LiveId" clId="{D43F0559-77F4-4E78-9D79-25A3583CA10B}" dt="2026-02-02T04:44:47.887" v="1675" actId="20577"/>
          <ac:spMkLst>
            <pc:docMk/>
            <pc:sldMk cId="135078349" sldId="287"/>
            <ac:spMk id="6" creationId="{AE9B4454-96E6-70D8-1440-2142487397DF}"/>
          </ac:spMkLst>
        </pc:spChg>
      </pc:sldChg>
      <pc:sldChg chg="modSp mod">
        <pc:chgData name="KALLAM Thirupatamma" userId="b87cf864dc0d41c6" providerId="LiveId" clId="{D43F0559-77F4-4E78-9D79-25A3583CA10B}" dt="2026-02-02T04:45:40.617" v="1695" actId="20577"/>
        <pc:sldMkLst>
          <pc:docMk/>
          <pc:sldMk cId="3729556793" sldId="288"/>
        </pc:sldMkLst>
        <pc:spChg chg="mod">
          <ac:chgData name="KALLAM Thirupatamma" userId="b87cf864dc0d41c6" providerId="LiveId" clId="{D43F0559-77F4-4E78-9D79-25A3583CA10B}" dt="2026-02-02T04:45:40.617" v="1695" actId="20577"/>
          <ac:spMkLst>
            <pc:docMk/>
            <pc:sldMk cId="3729556793" sldId="288"/>
            <ac:spMk id="6" creationId="{AE9B4454-96E6-70D8-1440-2142487397DF}"/>
          </ac:spMkLst>
        </pc:spChg>
      </pc:sldChg>
      <pc:sldChg chg="modSp mod">
        <pc:chgData name="KALLAM Thirupatamma" userId="b87cf864dc0d41c6" providerId="LiveId" clId="{D43F0559-77F4-4E78-9D79-25A3583CA10B}" dt="2026-02-02T04:45:48.405" v="1699" actId="20577"/>
        <pc:sldMkLst>
          <pc:docMk/>
          <pc:sldMk cId="1868746779" sldId="289"/>
        </pc:sldMkLst>
        <pc:spChg chg="mod">
          <ac:chgData name="KALLAM Thirupatamma" userId="b87cf864dc0d41c6" providerId="LiveId" clId="{D43F0559-77F4-4E78-9D79-25A3583CA10B}" dt="2026-02-02T04:45:48.405" v="1699" actId="20577"/>
          <ac:spMkLst>
            <pc:docMk/>
            <pc:sldMk cId="1868746779" sldId="289"/>
            <ac:spMk id="6" creationId="{AE9B4454-96E6-70D8-1440-2142487397DF}"/>
          </ac:spMkLst>
        </pc:spChg>
      </pc:sldChg>
      <pc:sldChg chg="modSp mod">
        <pc:chgData name="KALLAM Thirupatamma" userId="b87cf864dc0d41c6" providerId="LiveId" clId="{D43F0559-77F4-4E78-9D79-25A3583CA10B}" dt="2026-02-02T04:43:43.565" v="1647" actId="20577"/>
        <pc:sldMkLst>
          <pc:docMk/>
          <pc:sldMk cId="3387879528" sldId="296"/>
        </pc:sldMkLst>
        <pc:spChg chg="mod">
          <ac:chgData name="KALLAM Thirupatamma" userId="b87cf864dc0d41c6" providerId="LiveId" clId="{D43F0559-77F4-4E78-9D79-25A3583CA10B}" dt="2026-02-02T04:43:43.565" v="1647" actId="20577"/>
          <ac:spMkLst>
            <pc:docMk/>
            <pc:sldMk cId="3387879528" sldId="296"/>
            <ac:spMk id="6" creationId="{758E4DCA-0806-5896-52DF-914992591CBF}"/>
          </ac:spMkLst>
        </pc:spChg>
      </pc:sldChg>
      <pc:sldChg chg="modSp mod">
        <pc:chgData name="KALLAM Thirupatamma" userId="b87cf864dc0d41c6" providerId="LiveId" clId="{D43F0559-77F4-4E78-9D79-25A3583CA10B}" dt="2026-02-02T04:44:22.988" v="1659" actId="20577"/>
        <pc:sldMkLst>
          <pc:docMk/>
          <pc:sldMk cId="3695059296" sldId="297"/>
        </pc:sldMkLst>
        <pc:spChg chg="mod">
          <ac:chgData name="KALLAM Thirupatamma" userId="b87cf864dc0d41c6" providerId="LiveId" clId="{D43F0559-77F4-4E78-9D79-25A3583CA10B}" dt="2026-02-02T04:44:22.988" v="1659" actId="20577"/>
          <ac:spMkLst>
            <pc:docMk/>
            <pc:sldMk cId="3695059296" sldId="297"/>
            <ac:spMk id="6" creationId="{4EF5E6FA-AC84-3019-F448-FC68FF5001A6}"/>
          </ac:spMkLst>
        </pc:spChg>
      </pc:sldChg>
      <pc:sldChg chg="modSp mod">
        <pc:chgData name="KALLAM Thirupatamma" userId="b87cf864dc0d41c6" providerId="LiveId" clId="{D43F0559-77F4-4E78-9D79-25A3583CA10B}" dt="2026-02-02T04:44:39.599" v="1671" actId="20577"/>
        <pc:sldMkLst>
          <pc:docMk/>
          <pc:sldMk cId="2235044686" sldId="299"/>
        </pc:sldMkLst>
        <pc:spChg chg="mod">
          <ac:chgData name="KALLAM Thirupatamma" userId="b87cf864dc0d41c6" providerId="LiveId" clId="{D43F0559-77F4-4E78-9D79-25A3583CA10B}" dt="2026-02-02T04:44:39.599" v="1671" actId="20577"/>
          <ac:spMkLst>
            <pc:docMk/>
            <pc:sldMk cId="2235044686" sldId="299"/>
            <ac:spMk id="6" creationId="{25018DDC-8F1C-DE5E-E922-A7E987F8E199}"/>
          </ac:spMkLst>
        </pc:spChg>
      </pc:sldChg>
      <pc:sldChg chg="modSp mod">
        <pc:chgData name="KALLAM Thirupatamma" userId="b87cf864dc0d41c6" providerId="LiveId" clId="{D43F0559-77F4-4E78-9D79-25A3583CA10B}" dt="2026-02-02T04:42:50.350" v="1623" actId="20577"/>
        <pc:sldMkLst>
          <pc:docMk/>
          <pc:sldMk cId="1014201143" sldId="301"/>
        </pc:sldMkLst>
        <pc:spChg chg="mod">
          <ac:chgData name="KALLAM Thirupatamma" userId="b87cf864dc0d41c6" providerId="LiveId" clId="{D43F0559-77F4-4E78-9D79-25A3583CA10B}" dt="2026-02-02T04:42:50.350" v="1623" actId="20577"/>
          <ac:spMkLst>
            <pc:docMk/>
            <pc:sldMk cId="1014201143" sldId="301"/>
            <ac:spMk id="6" creationId="{AE9B4454-96E6-70D8-1440-2142487397DF}"/>
          </ac:spMkLst>
        </pc:spChg>
      </pc:sldChg>
      <pc:sldChg chg="modSp mod">
        <pc:chgData name="KALLAM Thirupatamma" userId="b87cf864dc0d41c6" providerId="LiveId" clId="{D43F0559-77F4-4E78-9D79-25A3583CA10B}" dt="2026-02-02T04:43:22.361" v="1637" actId="20577"/>
        <pc:sldMkLst>
          <pc:docMk/>
          <pc:sldMk cId="1549657695" sldId="303"/>
        </pc:sldMkLst>
        <pc:spChg chg="mod">
          <ac:chgData name="KALLAM Thirupatamma" userId="b87cf864dc0d41c6" providerId="LiveId" clId="{D43F0559-77F4-4E78-9D79-25A3583CA10B}" dt="2026-02-02T04:43:22.361" v="1637" actId="20577"/>
          <ac:spMkLst>
            <pc:docMk/>
            <pc:sldMk cId="1549657695" sldId="303"/>
            <ac:spMk id="6" creationId="{AE9B4454-96E6-70D8-1440-2142487397DF}"/>
          </ac:spMkLst>
        </pc:spChg>
      </pc:sldChg>
      <pc:sldChg chg="modSp mod">
        <pc:chgData name="KALLAM Thirupatamma" userId="b87cf864dc0d41c6" providerId="LiveId" clId="{D43F0559-77F4-4E78-9D79-25A3583CA10B}" dt="2026-02-02T04:43:51.845" v="1651" actId="20577"/>
        <pc:sldMkLst>
          <pc:docMk/>
          <pc:sldMk cId="1128970408" sldId="304"/>
        </pc:sldMkLst>
        <pc:spChg chg="mod">
          <ac:chgData name="KALLAM Thirupatamma" userId="b87cf864dc0d41c6" providerId="LiveId" clId="{D43F0559-77F4-4E78-9D79-25A3583CA10B}" dt="2026-02-02T04:43:51.845" v="1651" actId="20577"/>
          <ac:spMkLst>
            <pc:docMk/>
            <pc:sldMk cId="1128970408" sldId="304"/>
            <ac:spMk id="5" creationId="{00000000-0000-0000-0000-000000000000}"/>
          </ac:spMkLst>
        </pc:spChg>
      </pc:sldChg>
      <pc:sldChg chg="modSp mod">
        <pc:chgData name="KALLAM Thirupatamma" userId="b87cf864dc0d41c6" providerId="LiveId" clId="{D43F0559-77F4-4E78-9D79-25A3583CA10B}" dt="2026-02-02T04:43:31.960" v="1641" actId="20577"/>
        <pc:sldMkLst>
          <pc:docMk/>
          <pc:sldMk cId="476620523" sldId="305"/>
        </pc:sldMkLst>
        <pc:spChg chg="mod">
          <ac:chgData name="KALLAM Thirupatamma" userId="b87cf864dc0d41c6" providerId="LiveId" clId="{D43F0559-77F4-4E78-9D79-25A3583CA10B}" dt="2026-02-02T04:43:31.960" v="1641" actId="20577"/>
          <ac:spMkLst>
            <pc:docMk/>
            <pc:sldMk cId="476620523" sldId="305"/>
            <ac:spMk id="5" creationId="{00000000-0000-0000-0000-000000000000}"/>
          </ac:spMkLst>
        </pc:spChg>
      </pc:sldChg>
      <pc:sldChg chg="modSp mod">
        <pc:chgData name="KALLAM Thirupatamma" userId="b87cf864dc0d41c6" providerId="LiveId" clId="{D43F0559-77F4-4E78-9D79-25A3583CA10B}" dt="2026-02-02T04:45:19.580" v="1687" actId="20577"/>
        <pc:sldMkLst>
          <pc:docMk/>
          <pc:sldMk cId="3057737018" sldId="311"/>
        </pc:sldMkLst>
        <pc:spChg chg="mod">
          <ac:chgData name="KALLAM Thirupatamma" userId="b87cf864dc0d41c6" providerId="LiveId" clId="{D43F0559-77F4-4E78-9D79-25A3583CA10B}" dt="2026-02-02T04:45:19.580" v="1687" actId="20577"/>
          <ac:spMkLst>
            <pc:docMk/>
            <pc:sldMk cId="3057737018" sldId="311"/>
            <ac:spMk id="6" creationId="{AE9B4454-96E6-70D8-1440-2142487397DF}"/>
          </ac:spMkLst>
        </pc:spChg>
      </pc:sldChg>
      <pc:sldChg chg="addSp delSp modSp new mod">
        <pc:chgData name="KALLAM Thirupatamma" userId="b87cf864dc0d41c6" providerId="LiveId" clId="{D43F0559-77F4-4E78-9D79-25A3583CA10B}" dt="2026-02-10T13:45:21.629" v="1751" actId="14100"/>
        <pc:sldMkLst>
          <pc:docMk/>
          <pc:sldMk cId="851664463" sldId="312"/>
        </pc:sldMkLst>
        <pc:spChg chg="del mod">
          <ac:chgData name="KALLAM Thirupatamma" userId="b87cf864dc0d41c6" providerId="LiveId" clId="{D43F0559-77F4-4E78-9D79-25A3583CA10B}" dt="2026-02-10T13:40:01.214" v="1723" actId="21"/>
          <ac:spMkLst>
            <pc:docMk/>
            <pc:sldMk cId="851664463" sldId="312"/>
            <ac:spMk id="2" creationId="{6E753D95-951C-15B9-BB11-31A6602F43B8}"/>
          </ac:spMkLst>
        </pc:spChg>
        <pc:spChg chg="del mod">
          <ac:chgData name="KALLAM Thirupatamma" userId="b87cf864dc0d41c6" providerId="LiveId" clId="{D43F0559-77F4-4E78-9D79-25A3583CA10B}" dt="2026-02-10T13:39:57.962" v="1722" actId="21"/>
          <ac:spMkLst>
            <pc:docMk/>
            <pc:sldMk cId="851664463" sldId="312"/>
            <ac:spMk id="3" creationId="{41EB3BC6-6704-D559-F00C-897911EE31FB}"/>
          </ac:spMkLst>
        </pc:spChg>
        <pc:spChg chg="add mod">
          <ac:chgData name="KALLAM Thirupatamma" userId="b87cf864dc0d41c6" providerId="LiveId" clId="{D43F0559-77F4-4E78-9D79-25A3583CA10B}" dt="2026-02-10T13:45:21.629" v="1751" actId="14100"/>
          <ac:spMkLst>
            <pc:docMk/>
            <pc:sldMk cId="851664463" sldId="312"/>
            <ac:spMk id="6" creationId="{66CC9145-32EA-347F-4810-3971E7291BF5}"/>
          </ac:spMkLst>
        </pc:spChg>
      </pc:sldChg>
      <pc:sldChg chg="addSp delSp modSp new mod">
        <pc:chgData name="KALLAM Thirupatamma" userId="b87cf864dc0d41c6" providerId="LiveId" clId="{D43F0559-77F4-4E78-9D79-25A3583CA10B}" dt="2026-02-10T13:43:35.205" v="1742" actId="14100"/>
        <pc:sldMkLst>
          <pc:docMk/>
          <pc:sldMk cId="3009052899" sldId="313"/>
        </pc:sldMkLst>
        <pc:spChg chg="del">
          <ac:chgData name="KALLAM Thirupatamma" userId="b87cf864dc0d41c6" providerId="LiveId" clId="{D43F0559-77F4-4E78-9D79-25A3583CA10B}" dt="2026-02-10T13:41:01.869" v="1725" actId="21"/>
          <ac:spMkLst>
            <pc:docMk/>
            <pc:sldMk cId="3009052899" sldId="313"/>
            <ac:spMk id="2" creationId="{3C2A9DE2-EA9E-49C5-0752-F53FC03CA46E}"/>
          </ac:spMkLst>
        </pc:spChg>
        <pc:spChg chg="del">
          <ac:chgData name="KALLAM Thirupatamma" userId="b87cf864dc0d41c6" providerId="LiveId" clId="{D43F0559-77F4-4E78-9D79-25A3583CA10B}" dt="2026-02-10T13:41:08.581" v="1726" actId="21"/>
          <ac:spMkLst>
            <pc:docMk/>
            <pc:sldMk cId="3009052899" sldId="313"/>
            <ac:spMk id="3" creationId="{43E21FA4-F0B5-33EE-B672-1582C654F11C}"/>
          </ac:spMkLst>
        </pc:spChg>
        <pc:picChg chg="add mod">
          <ac:chgData name="KALLAM Thirupatamma" userId="b87cf864dc0d41c6" providerId="LiveId" clId="{D43F0559-77F4-4E78-9D79-25A3583CA10B}" dt="2026-02-10T13:43:35.205" v="1742" actId="14100"/>
          <ac:picMkLst>
            <pc:docMk/>
            <pc:sldMk cId="3009052899" sldId="313"/>
            <ac:picMk id="8" creationId="{E5BCE51E-C9FA-C4DC-A669-F6FC5B9C760E}"/>
          </ac:picMkLst>
        </pc:picChg>
        <pc:picChg chg="add mod">
          <ac:chgData name="KALLAM Thirupatamma" userId="b87cf864dc0d41c6" providerId="LiveId" clId="{D43F0559-77F4-4E78-9D79-25A3583CA10B}" dt="2026-02-10T13:43:22.109" v="1740" actId="14100"/>
          <ac:picMkLst>
            <pc:docMk/>
            <pc:sldMk cId="3009052899" sldId="313"/>
            <ac:picMk id="10" creationId="{32E6880C-7651-2F51-0E59-E11D9B2893F1}"/>
          </ac:picMkLst>
        </pc:pic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199655-05E8-4463-9482-2D23FD405AF3}" type="datetimeFigureOut">
              <a:rPr lang="en-IN" smtClean="0"/>
              <a:t>10-02-2026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C9CC48-2212-46F0-B96C-6F8104E82434}" type="slidenum">
              <a:rPr lang="en-IN" smtClean="0"/>
              <a:t>‹#›</a:t>
            </a:fld>
            <a:endParaRPr lang="en-IN"/>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3851868"/>
          </a:xfrm>
          <a:prstGeom prst="rect">
            <a:avLst/>
          </a:prstGeom>
        </p:spPr>
      </p:pic>
    </p:spTree>
    <p:extLst>
      <p:ext uri="{BB962C8B-B14F-4D97-AF65-F5344CB8AC3E}">
        <p14:creationId xmlns:p14="http://schemas.microsoft.com/office/powerpoint/2010/main" val="12714582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DE0E28-087F-4BBF-B8BC-055CB0BBD464}" type="datetimeFigureOut">
              <a:rPr lang="en-IN" smtClean="0"/>
              <a:t>10-02-2026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5E3DF0-35B4-40E5-AC91-1A2000F81275}" type="slidenum">
              <a:rPr lang="en-IN" smtClean="0"/>
              <a:t>‹#›</a:t>
            </a:fld>
            <a:endParaRPr lang="en-IN"/>
          </a:p>
        </p:txBody>
      </p:sp>
    </p:spTree>
    <p:extLst>
      <p:ext uri="{BB962C8B-B14F-4D97-AF65-F5344CB8AC3E}">
        <p14:creationId xmlns:p14="http://schemas.microsoft.com/office/powerpoint/2010/main" val="260551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65E3DF0-35B4-40E5-AC91-1A2000F81275}" type="slidenum">
              <a:rPr lang="en-IN" smtClean="0"/>
              <a:t>2</a:t>
            </a:fld>
            <a:endParaRPr lang="en-IN"/>
          </a:p>
        </p:txBody>
      </p:sp>
    </p:spTree>
    <p:extLst>
      <p:ext uri="{BB962C8B-B14F-4D97-AF65-F5344CB8AC3E}">
        <p14:creationId xmlns:p14="http://schemas.microsoft.com/office/powerpoint/2010/main" val="1697383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5AF2671-7197-492D-B687-466CB0F8C207}" type="datetime1">
              <a:rPr lang="en-IN" smtClean="0"/>
              <a:t>10-02-2026</a:t>
            </a:fld>
            <a:endParaRPr lang="en-IN"/>
          </a:p>
        </p:txBody>
      </p:sp>
      <p:sp>
        <p:nvSpPr>
          <p:cNvPr id="5" name="Footer Placeholder 4"/>
          <p:cNvSpPr>
            <a:spLocks noGrp="1"/>
          </p:cNvSpPr>
          <p:nvPr>
            <p:ph type="ftr" sz="quarter" idx="11"/>
          </p:nvPr>
        </p:nvSpPr>
        <p:spPr/>
        <p:txBody>
          <a:bodyPr/>
          <a:lstStyle/>
          <a:p>
            <a:r>
              <a:rPr lang="en-US"/>
              <a:t>Review No. 1         Batch No. BG1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4231652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368DE36-5B3B-46D4-A793-8AF9D394B1E7}" type="datetime1">
              <a:rPr lang="en-IN" smtClean="0"/>
              <a:t>10-02-2026</a:t>
            </a:fld>
            <a:endParaRPr lang="en-IN"/>
          </a:p>
        </p:txBody>
      </p:sp>
      <p:sp>
        <p:nvSpPr>
          <p:cNvPr id="5" name="Footer Placeholder 4"/>
          <p:cNvSpPr>
            <a:spLocks noGrp="1"/>
          </p:cNvSpPr>
          <p:nvPr>
            <p:ph type="ftr" sz="quarter" idx="11"/>
          </p:nvPr>
        </p:nvSpPr>
        <p:spPr/>
        <p:txBody>
          <a:bodyPr/>
          <a:lstStyle/>
          <a:p>
            <a:r>
              <a:rPr lang="en-US"/>
              <a:t>Review No. 1         Batch No. BG1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7802064" cy="4382112"/>
          </a:xfrm>
          <a:prstGeom prst="rect">
            <a:avLst/>
          </a:prstGeom>
        </p:spPr>
      </p:pic>
    </p:spTree>
    <p:extLst>
      <p:ext uri="{BB962C8B-B14F-4D97-AF65-F5344CB8AC3E}">
        <p14:creationId xmlns:p14="http://schemas.microsoft.com/office/powerpoint/2010/main" val="2262376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8A12C7-C7C5-43DA-8E45-1B386D6CC830}" type="datetime1">
              <a:rPr lang="en-IN" smtClean="0"/>
              <a:t>10-02-2026</a:t>
            </a:fld>
            <a:endParaRPr lang="en-IN"/>
          </a:p>
        </p:txBody>
      </p:sp>
      <p:sp>
        <p:nvSpPr>
          <p:cNvPr id="5" name="Footer Placeholder 4"/>
          <p:cNvSpPr>
            <a:spLocks noGrp="1"/>
          </p:cNvSpPr>
          <p:nvPr>
            <p:ph type="ftr" sz="quarter" idx="11"/>
          </p:nvPr>
        </p:nvSpPr>
        <p:spPr/>
        <p:txBody>
          <a:bodyPr/>
          <a:lstStyle/>
          <a:p>
            <a:r>
              <a:rPr lang="en-US"/>
              <a:t>Review No. 1         Batch No. BG1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132791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CBF6C57-DEA7-4BDB-AB5F-CF5064111ADB}" type="datetime1">
              <a:rPr lang="en-IN" smtClean="0"/>
              <a:t>10-02-2026</a:t>
            </a:fld>
            <a:endParaRPr lang="en-IN"/>
          </a:p>
        </p:txBody>
      </p:sp>
      <p:sp>
        <p:nvSpPr>
          <p:cNvPr id="6" name="Footer Placeholder 5"/>
          <p:cNvSpPr>
            <a:spLocks noGrp="1"/>
          </p:cNvSpPr>
          <p:nvPr>
            <p:ph type="ftr" sz="quarter" idx="11"/>
          </p:nvPr>
        </p:nvSpPr>
        <p:spPr/>
        <p:txBody>
          <a:bodyPr/>
          <a:lstStyle/>
          <a:p>
            <a:r>
              <a:rPr lang="en-US"/>
              <a:t>Review No. 1         Batch No. BG1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402758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E729486-EB02-47D9-810A-114C619DD5A6}" type="datetime1">
              <a:rPr lang="en-IN" smtClean="0"/>
              <a:t>10-02-2026</a:t>
            </a:fld>
            <a:endParaRPr lang="en-IN"/>
          </a:p>
        </p:txBody>
      </p:sp>
      <p:sp>
        <p:nvSpPr>
          <p:cNvPr id="8" name="Footer Placeholder 7"/>
          <p:cNvSpPr>
            <a:spLocks noGrp="1"/>
          </p:cNvSpPr>
          <p:nvPr>
            <p:ph type="ftr" sz="quarter" idx="11"/>
          </p:nvPr>
        </p:nvSpPr>
        <p:spPr/>
        <p:txBody>
          <a:bodyPr/>
          <a:lstStyle/>
          <a:p>
            <a:r>
              <a:rPr lang="en-US"/>
              <a:t>Review No. 1         Batch No. BG1           Department of CSE</a:t>
            </a:r>
            <a:endParaRPr lang="en-IN"/>
          </a:p>
        </p:txBody>
      </p:sp>
      <p:sp>
        <p:nvSpPr>
          <p:cNvPr id="9" name="Slide Number Placeholder 8"/>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859279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773E9A0-2C44-4C87-AAB9-3291063AA429}" type="datetime1">
              <a:rPr lang="en-IN" smtClean="0"/>
              <a:t>10-02-2026</a:t>
            </a:fld>
            <a:endParaRPr lang="en-IN"/>
          </a:p>
        </p:txBody>
      </p:sp>
      <p:sp>
        <p:nvSpPr>
          <p:cNvPr id="4" name="Footer Placeholder 3"/>
          <p:cNvSpPr>
            <a:spLocks noGrp="1"/>
          </p:cNvSpPr>
          <p:nvPr>
            <p:ph type="ftr" sz="quarter" idx="11"/>
          </p:nvPr>
        </p:nvSpPr>
        <p:spPr/>
        <p:txBody>
          <a:bodyPr/>
          <a:lstStyle/>
          <a:p>
            <a:r>
              <a:rPr lang="en-US"/>
              <a:t>Review No. 1         Batch No. BG1           Department of CSE</a:t>
            </a:r>
            <a:endParaRPr lang="en-IN"/>
          </a:p>
        </p:txBody>
      </p:sp>
      <p:sp>
        <p:nvSpPr>
          <p:cNvPr id="5" name="Slide Number Placeholder 4"/>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826415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81DC0-3B90-4693-8B3F-31B18C859D88}" type="datetime1">
              <a:rPr lang="en-IN" smtClean="0"/>
              <a:t>10-02-2026</a:t>
            </a:fld>
            <a:endParaRPr lang="en-IN"/>
          </a:p>
        </p:txBody>
      </p:sp>
      <p:sp>
        <p:nvSpPr>
          <p:cNvPr id="3" name="Footer Placeholder 2"/>
          <p:cNvSpPr>
            <a:spLocks noGrp="1"/>
          </p:cNvSpPr>
          <p:nvPr>
            <p:ph type="ftr" sz="quarter" idx="11"/>
          </p:nvPr>
        </p:nvSpPr>
        <p:spPr/>
        <p:txBody>
          <a:bodyPr/>
          <a:lstStyle/>
          <a:p>
            <a:r>
              <a:rPr lang="en-US"/>
              <a:t>Review No. 1         Batch No. BG1           Department of CSE</a:t>
            </a:r>
            <a:endParaRPr lang="en-IN"/>
          </a:p>
        </p:txBody>
      </p:sp>
      <p:sp>
        <p:nvSpPr>
          <p:cNvPr id="4" name="Slide Number Placeholder 3"/>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459629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1711CA-8584-4B8B-B881-4318C8492F9E}" type="datetime1">
              <a:rPr lang="en-IN" smtClean="0"/>
              <a:t>10-02-2026</a:t>
            </a:fld>
            <a:endParaRPr lang="en-IN"/>
          </a:p>
        </p:txBody>
      </p:sp>
      <p:sp>
        <p:nvSpPr>
          <p:cNvPr id="6" name="Footer Placeholder 5"/>
          <p:cNvSpPr>
            <a:spLocks noGrp="1"/>
          </p:cNvSpPr>
          <p:nvPr>
            <p:ph type="ftr" sz="quarter" idx="11"/>
          </p:nvPr>
        </p:nvSpPr>
        <p:spPr/>
        <p:txBody>
          <a:bodyPr/>
          <a:lstStyle/>
          <a:p>
            <a:r>
              <a:rPr lang="en-US"/>
              <a:t>Review No. 1         Batch No. BG1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681320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8CFF15-9EA1-401C-B736-D77022F88A16}" type="datetime1">
              <a:rPr lang="en-IN" smtClean="0"/>
              <a:t>10-02-2026</a:t>
            </a:fld>
            <a:endParaRPr lang="en-IN"/>
          </a:p>
        </p:txBody>
      </p:sp>
      <p:sp>
        <p:nvSpPr>
          <p:cNvPr id="6" name="Footer Placeholder 5"/>
          <p:cNvSpPr>
            <a:spLocks noGrp="1"/>
          </p:cNvSpPr>
          <p:nvPr>
            <p:ph type="ftr" sz="quarter" idx="11"/>
          </p:nvPr>
        </p:nvSpPr>
        <p:spPr/>
        <p:txBody>
          <a:bodyPr/>
          <a:lstStyle/>
          <a:p>
            <a:r>
              <a:rPr lang="en-US"/>
              <a:t>Review No. 1         Batch No. BG1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602278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2B8FA6F-A977-4C4D-AF2E-76A02BDE2A4F}" type="datetime1">
              <a:rPr lang="en-IN" smtClean="0"/>
              <a:t>10-02-2026</a:t>
            </a:fld>
            <a:endParaRPr lang="en-IN"/>
          </a:p>
        </p:txBody>
      </p:sp>
      <p:sp>
        <p:nvSpPr>
          <p:cNvPr id="5" name="Footer Placeholder 4"/>
          <p:cNvSpPr>
            <a:spLocks noGrp="1"/>
          </p:cNvSpPr>
          <p:nvPr>
            <p:ph type="ftr" sz="quarter" idx="11"/>
          </p:nvPr>
        </p:nvSpPr>
        <p:spPr/>
        <p:txBody>
          <a:bodyPr/>
          <a:lstStyle/>
          <a:p>
            <a:r>
              <a:rPr lang="en-US"/>
              <a:t>Review No. 1         Batch No. BG1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394357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6D8197F-3B1C-4899-AC02-EB325C67AC70}" type="datetime1">
              <a:rPr lang="en-IN" smtClean="0"/>
              <a:t>10-02-2026</a:t>
            </a:fld>
            <a:endParaRPr lang="en-IN"/>
          </a:p>
        </p:txBody>
      </p:sp>
      <p:sp>
        <p:nvSpPr>
          <p:cNvPr id="5" name="Footer Placeholder 4"/>
          <p:cNvSpPr>
            <a:spLocks noGrp="1"/>
          </p:cNvSpPr>
          <p:nvPr>
            <p:ph type="ftr" sz="quarter" idx="11"/>
          </p:nvPr>
        </p:nvSpPr>
        <p:spPr/>
        <p:txBody>
          <a:bodyPr/>
          <a:lstStyle/>
          <a:p>
            <a:r>
              <a:rPr lang="en-US"/>
              <a:t>Review No. 1         Batch No. BG1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1839206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641F65-4DE5-4190-BCC8-4D40FAD96F1C}" type="datetime1">
              <a:rPr lang="en-IN" smtClean="0"/>
              <a:t>10-02-2026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No. 1         Batch No. BG1           Department of CSE</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DCBD69-296B-4D7C-AF62-9B588FC78772}" type="slidenum">
              <a:rPr lang="en-IN" smtClean="0"/>
              <a:t>‹#›</a:t>
            </a:fld>
            <a:endParaRPr lang="en-IN"/>
          </a:p>
        </p:txBody>
      </p:sp>
    </p:spTree>
    <p:extLst>
      <p:ext uri="{BB962C8B-B14F-4D97-AF65-F5344CB8AC3E}">
        <p14:creationId xmlns:p14="http://schemas.microsoft.com/office/powerpoint/2010/main" val="4106517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5F53EA6-D6BB-3ADD-0BDE-9B714548B720}"/>
              </a:ext>
            </a:extLst>
          </p:cNvPr>
          <p:cNvSpPr>
            <a:spLocks noGrp="1"/>
          </p:cNvSpPr>
          <p:nvPr>
            <p:ph type="sldNum" sz="quarter" idx="12"/>
          </p:nvPr>
        </p:nvSpPr>
        <p:spPr/>
        <p:txBody>
          <a:bodyPr/>
          <a:lstStyle/>
          <a:p>
            <a:fld id="{65DCBD69-296B-4D7C-AF62-9B588FC78772}" type="slidenum">
              <a:rPr lang="en-IN" smtClean="0"/>
              <a:t>1</a:t>
            </a:fld>
            <a:endParaRPr lang="en-IN"/>
          </a:p>
        </p:txBody>
      </p:sp>
      <p:sp>
        <p:nvSpPr>
          <p:cNvPr id="6" name="TextBox 5">
            <a:extLst>
              <a:ext uri="{FF2B5EF4-FFF2-40B4-BE49-F238E27FC236}">
                <a16:creationId xmlns:a16="http://schemas.microsoft.com/office/drawing/2014/main" id="{66CC9145-32EA-347F-4810-3971E7291BF5}"/>
              </a:ext>
            </a:extLst>
          </p:cNvPr>
          <p:cNvSpPr txBox="1"/>
          <p:nvPr/>
        </p:nvSpPr>
        <p:spPr>
          <a:xfrm>
            <a:off x="863600" y="2651760"/>
            <a:ext cx="10586720" cy="830997"/>
          </a:xfrm>
          <a:prstGeom prst="rect">
            <a:avLst/>
          </a:prstGeom>
          <a:noFill/>
        </p:spPr>
        <p:txBody>
          <a:bodyPr wrap="square">
            <a:spAutoFit/>
          </a:bodyPr>
          <a:lstStyle/>
          <a:p>
            <a:r>
              <a:rPr lang="en-US" sz="2400" dirty="0"/>
              <a:t>An Explainable Deep Learning Framework for Predicting Traffic Accident Risk and Identifying Critical Factors Using CNN-</a:t>
            </a:r>
            <a:r>
              <a:rPr lang="en-US" sz="2400" dirty="0" err="1"/>
              <a:t>BiLSTM</a:t>
            </a:r>
            <a:r>
              <a:rPr lang="en-US" sz="2400" dirty="0"/>
              <a:t>-Attention and SHAP</a:t>
            </a:r>
            <a:endParaRPr lang="en-IN" sz="2400" dirty="0"/>
          </a:p>
        </p:txBody>
      </p:sp>
    </p:spTree>
    <p:extLst>
      <p:ext uri="{BB962C8B-B14F-4D97-AF65-F5344CB8AC3E}">
        <p14:creationId xmlns:p14="http://schemas.microsoft.com/office/powerpoint/2010/main" val="851664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7"/>
          <p:cNvSpPr txBox="1">
            <a:spLocks/>
          </p:cNvSpPr>
          <p:nvPr/>
        </p:nvSpPr>
        <p:spPr>
          <a:xfrm>
            <a:off x="1754154" y="705471"/>
            <a:ext cx="8915400" cy="375925"/>
          </a:xfrm>
          <a:prstGeom prst="roundRect">
            <a:avLst>
              <a:gd name="adj" fmla="val 16667"/>
            </a:avLst>
          </a:prstGeom>
          <a:ln w="25400" cap="flat" cmpd="sng" algn="ctr">
            <a:solidFill>
              <a:schemeClr val="bg1"/>
            </a:solidFill>
            <a:prstDash val="solid"/>
          </a:ln>
        </p:spPr>
        <p:style>
          <a:lnRef idx="2">
            <a:schemeClr val="accent1"/>
          </a:lnRef>
          <a:fillRef idx="1">
            <a:schemeClr val="lt1"/>
          </a:fillRef>
          <a:effectRef idx="0">
            <a:schemeClr val="accent1"/>
          </a:effectRef>
          <a:fontRef idx="minor">
            <a:schemeClr val="dk1"/>
          </a:fontRef>
        </p:style>
        <p:txBody>
          <a:bodyPr>
            <a:noAutofit/>
          </a:bodyPr>
          <a:lstStyle/>
          <a:p>
            <a:pPr lvl="0" algn="ctr">
              <a:spcBef>
                <a:spcPct val="20000"/>
              </a:spcBef>
              <a:defRPr/>
            </a:pPr>
            <a:r>
              <a:rPr lang="en-US" b="1" dirty="0">
                <a:latin typeface="Times New Roman" panose="02020603050405020304" pitchFamily="18" charset="0"/>
                <a:cs typeface="Times New Roman" pitchFamily="18" charset="0"/>
              </a:rPr>
              <a:t>Department of Computer Science and Engineering</a:t>
            </a:r>
          </a:p>
          <a:p>
            <a:pPr lvl="0" algn="ctr">
              <a:spcBef>
                <a:spcPct val="20000"/>
              </a:spcBef>
              <a:defRPr/>
            </a:pPr>
            <a:r>
              <a:rPr lang="en-US" sz="20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An Explainable Deep Learning Framework for Predicting Traffic Accident Risk and Identifying Critical Factors Using CNN </a:t>
            </a:r>
            <a:r>
              <a:rPr lang="en-US" sz="2000" b="1"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BiLSTM</a:t>
            </a:r>
            <a:r>
              <a:rPr lang="en-US" sz="20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–Attention and SHAP  </a:t>
            </a:r>
          </a:p>
        </p:txBody>
      </p:sp>
      <p:sp>
        <p:nvSpPr>
          <p:cNvPr id="16" name="Subtitle 2"/>
          <p:cNvSpPr>
            <a:spLocks noGrp="1"/>
          </p:cNvSpPr>
          <p:nvPr>
            <p:ph type="subTitle" idx="1"/>
          </p:nvPr>
        </p:nvSpPr>
        <p:spPr>
          <a:xfrm>
            <a:off x="1881449" y="1884218"/>
            <a:ext cx="9174477" cy="1687240"/>
          </a:xfrm>
        </p:spPr>
        <p:txBody>
          <a:bodyPr>
            <a:normAutofit/>
          </a:bodyPr>
          <a:lstStyle/>
          <a:p>
            <a:pPr eaLnBrk="1" hangingPunct="1"/>
            <a:r>
              <a:rPr lang="en-US" altLang="en-US" sz="1600" dirty="0">
                <a:solidFill>
                  <a:schemeClr val="tx1"/>
                </a:solidFill>
                <a:latin typeface="Times New Roman" panose="02020603050405020304" pitchFamily="18" charset="0"/>
                <a:cs typeface="Times New Roman" pitchFamily="18" charset="0"/>
              </a:rPr>
              <a:t>PRESENTED BY</a:t>
            </a:r>
          </a:p>
          <a:p>
            <a:pPr algn="l" eaLnBrk="1" hangingPunct="1"/>
            <a:r>
              <a:rPr lang="en-US" altLang="en-US" sz="1600" dirty="0">
                <a:solidFill>
                  <a:schemeClr val="tx1"/>
                </a:solidFill>
                <a:latin typeface="Times New Roman" panose="02020603050405020304" pitchFamily="18" charset="0"/>
                <a:cs typeface="Times New Roman" pitchFamily="18" charset="0"/>
              </a:rPr>
              <a:t>		</a:t>
            </a:r>
            <a:r>
              <a:rPr lang="en-US" altLang="en-US" sz="1600" dirty="0">
                <a:latin typeface="Times New Roman" panose="02020603050405020304" pitchFamily="18" charset="0"/>
                <a:cs typeface="Times New Roman" pitchFamily="18" charset="0"/>
              </a:rPr>
              <a:t>Kallam Thirupatamma</a:t>
            </a:r>
            <a:r>
              <a:rPr lang="en-US" altLang="en-US" sz="1600" dirty="0">
                <a:solidFill>
                  <a:schemeClr val="tx1"/>
                </a:solidFill>
                <a:latin typeface="Times New Roman" panose="02020603050405020304" pitchFamily="18" charset="0"/>
                <a:cs typeface="Times New Roman" pitchFamily="18" charset="0"/>
              </a:rPr>
              <a:t>		22471A0526</a:t>
            </a:r>
          </a:p>
          <a:p>
            <a:pPr algn="l" eaLnBrk="1" hangingPunct="1"/>
            <a:r>
              <a:rPr lang="en-US" altLang="en-US" sz="1600" dirty="0">
                <a:solidFill>
                  <a:schemeClr val="tx1"/>
                </a:solidFill>
                <a:latin typeface="Times New Roman" panose="02020603050405020304" pitchFamily="18" charset="0"/>
                <a:cs typeface="Times New Roman" pitchFamily="18" charset="0"/>
              </a:rPr>
              <a:t> 		</a:t>
            </a:r>
            <a:r>
              <a:rPr lang="en-US" altLang="en-US" sz="1600" dirty="0" err="1">
                <a:latin typeface="Times New Roman" panose="02020603050405020304" pitchFamily="18" charset="0"/>
                <a:cs typeface="Times New Roman" pitchFamily="18" charset="0"/>
              </a:rPr>
              <a:t>Velangini</a:t>
            </a:r>
            <a:r>
              <a:rPr lang="en-US" altLang="en-US" sz="1600" dirty="0">
                <a:latin typeface="Times New Roman" panose="02020603050405020304" pitchFamily="18" charset="0"/>
                <a:cs typeface="Times New Roman" pitchFamily="18" charset="0"/>
              </a:rPr>
              <a:t> Rani </a:t>
            </a:r>
            <a:r>
              <a:rPr lang="en-US" altLang="en-US" sz="1600" dirty="0" err="1">
                <a:latin typeface="Times New Roman" panose="02020603050405020304" pitchFamily="18" charset="0"/>
                <a:cs typeface="Times New Roman" pitchFamily="18" charset="0"/>
              </a:rPr>
              <a:t>Biraka</a:t>
            </a:r>
            <a:r>
              <a:rPr lang="en-US" altLang="en-US" sz="1600" dirty="0">
                <a:latin typeface="Times New Roman" panose="02020603050405020304" pitchFamily="18" charset="0"/>
                <a:cs typeface="Times New Roman" pitchFamily="18" charset="0"/>
              </a:rPr>
              <a:t> </a:t>
            </a:r>
            <a:r>
              <a:rPr lang="en-US" altLang="en-US" sz="1600" dirty="0">
                <a:solidFill>
                  <a:schemeClr val="tx1"/>
                </a:solidFill>
                <a:latin typeface="Times New Roman" panose="02020603050405020304" pitchFamily="18" charset="0"/>
                <a:cs typeface="Times New Roman" pitchFamily="18" charset="0"/>
              </a:rPr>
              <a:t>	   	</a:t>
            </a:r>
            <a:r>
              <a:rPr lang="en-US" altLang="en-US" sz="1600" dirty="0">
                <a:latin typeface="Times New Roman" panose="02020603050405020304" pitchFamily="18" charset="0"/>
                <a:cs typeface="Times New Roman" pitchFamily="18" charset="0"/>
              </a:rPr>
              <a:t>22471A0504</a:t>
            </a:r>
            <a:endParaRPr lang="en-US" altLang="en-US" sz="1600" dirty="0">
              <a:solidFill>
                <a:schemeClr val="tx1"/>
              </a:solidFill>
              <a:latin typeface="Times New Roman" panose="02020603050405020304" pitchFamily="18" charset="0"/>
              <a:cs typeface="Times New Roman" pitchFamily="18" charset="0"/>
            </a:endParaRPr>
          </a:p>
          <a:p>
            <a:pPr algn="l"/>
            <a:r>
              <a:rPr lang="en-US" altLang="en-US" sz="1600" dirty="0">
                <a:solidFill>
                  <a:schemeClr val="tx1"/>
                </a:solidFill>
                <a:latin typeface="Times New Roman" panose="02020603050405020304" pitchFamily="18" charset="0"/>
                <a:cs typeface="Times New Roman" pitchFamily="18" charset="0"/>
              </a:rPr>
              <a:t>		</a:t>
            </a:r>
            <a:r>
              <a:rPr lang="en-IN" sz="1600" dirty="0" err="1"/>
              <a:t>Yenumala</a:t>
            </a:r>
            <a:r>
              <a:rPr lang="en-IN" sz="1600" dirty="0"/>
              <a:t> Mythri </a:t>
            </a:r>
            <a:r>
              <a:rPr lang="en-US" altLang="en-US" sz="1600" dirty="0">
                <a:solidFill>
                  <a:schemeClr val="tx1"/>
                </a:solidFill>
                <a:latin typeface="Times New Roman" panose="02020603050405020304" pitchFamily="18" charset="0"/>
                <a:cs typeface="Times New Roman" pitchFamily="18" charset="0"/>
              </a:rPr>
              <a:t>		   	</a:t>
            </a:r>
            <a:r>
              <a:rPr lang="en-US" altLang="en-US" sz="1600" dirty="0">
                <a:latin typeface="Times New Roman" panose="02020603050405020304" pitchFamily="18" charset="0"/>
                <a:cs typeface="Times New Roman" pitchFamily="18" charset="0"/>
              </a:rPr>
              <a:t>21471A0569</a:t>
            </a:r>
          </a:p>
          <a:p>
            <a:pPr algn="l"/>
            <a:endParaRPr lang="en-US" altLang="en-US" sz="1600" dirty="0">
              <a:solidFill>
                <a:schemeClr val="tx1"/>
              </a:solidFill>
              <a:latin typeface="Times New Roman" panose="02020603050405020304" pitchFamily="18" charset="0"/>
              <a:cs typeface="Times New Roman" pitchFamily="18" charset="0"/>
            </a:endParaRPr>
          </a:p>
        </p:txBody>
      </p:sp>
      <p:sp>
        <p:nvSpPr>
          <p:cNvPr id="17" name="Subtitle 2"/>
          <p:cNvSpPr txBox="1">
            <a:spLocks/>
          </p:cNvSpPr>
          <p:nvPr/>
        </p:nvSpPr>
        <p:spPr bwMode="auto">
          <a:xfrm>
            <a:off x="2782854" y="3571458"/>
            <a:ext cx="6858000" cy="2288429"/>
          </a:xfrm>
          <a:prstGeom prst="rect">
            <a:avLst/>
          </a:prstGeom>
          <a:noFill/>
          <a:ln w="9525">
            <a:noFill/>
            <a:miter lim="800000"/>
            <a:headEnd/>
            <a:tailEnd/>
          </a:ln>
        </p:spPr>
        <p:txBody>
          <a:bodyPr/>
          <a:lstStyle/>
          <a:p>
            <a:pPr algn="ctr" eaLnBrk="1" hangingPunct="1">
              <a:spcBef>
                <a:spcPct val="20000"/>
              </a:spcBef>
              <a:buFont typeface="Wingdings" pitchFamily="2" charset="2"/>
              <a:buNone/>
            </a:pPr>
            <a:r>
              <a:rPr lang="en-US" altLang="en-US" dirty="0">
                <a:solidFill>
                  <a:srgbClr val="006600"/>
                </a:solidFill>
                <a:latin typeface="Times New Roman" panose="02020603050405020304" pitchFamily="18" charset="0"/>
                <a:cs typeface="Times New Roman" pitchFamily="18" charset="0"/>
              </a:rPr>
              <a:t>Under the Guidance of,</a:t>
            </a:r>
            <a:endParaRPr lang="en-US" altLang="en-US" b="1" dirty="0">
              <a:solidFill>
                <a:srgbClr val="006600"/>
              </a:solidFill>
              <a:latin typeface="Times New Roman" pitchFamily="18" charset="0"/>
              <a:cs typeface="Times New Roman" pitchFamily="18" charset="0"/>
            </a:endParaRPr>
          </a:p>
          <a:p>
            <a:pPr algn="ctr" eaLnBrk="1" hangingPunct="1">
              <a:spcBef>
                <a:spcPct val="20000"/>
              </a:spcBef>
              <a:buFont typeface="Wingdings" pitchFamily="2" charset="2"/>
              <a:buNone/>
            </a:pPr>
            <a:endParaRPr lang="en-US" altLang="en-US" sz="900" b="1" dirty="0">
              <a:solidFill>
                <a:schemeClr val="bg1"/>
              </a:solidFill>
              <a:latin typeface="Times New Roman" pitchFamily="18" charset="0"/>
              <a:cs typeface="Times New Roman" pitchFamily="18" charset="0"/>
            </a:endParaRPr>
          </a:p>
          <a:p>
            <a:pPr algn="ctr">
              <a:spcBef>
                <a:spcPct val="20000"/>
              </a:spcBef>
            </a:pPr>
            <a:r>
              <a:rPr lang="en-US" sz="1600" b="1" dirty="0">
                <a:latin typeface="Times New Roman" panose="02020603050405020304" pitchFamily="18" charset="0"/>
                <a:cs typeface="Times New Roman" panose="02020603050405020304" pitchFamily="18" charset="0"/>
              </a:rPr>
              <a:t>Dr. S.V.N SREENIVASU</a:t>
            </a:r>
            <a:r>
              <a:rPr lang="en-US" sz="1600" b="1" baseline="-25000" dirty="0">
                <a:latin typeface="Times New Roman" panose="02020603050405020304" pitchFamily="18" charset="0"/>
                <a:cs typeface="Times New Roman" panose="02020603050405020304" pitchFamily="18" charset="0"/>
              </a:rPr>
              <a:t> MTech</a:t>
            </a:r>
            <a:endParaRPr lang="en-IN" sz="1600" dirty="0">
              <a:latin typeface="Times New Roman" panose="02020603050405020304" pitchFamily="18" charset="0"/>
              <a:cs typeface="Times New Roman" panose="02020603050405020304" pitchFamily="18" charset="0"/>
            </a:endParaRPr>
          </a:p>
          <a:p>
            <a:pPr algn="ctr" eaLnBrk="1" hangingPunct="1">
              <a:spcBef>
                <a:spcPct val="20000"/>
              </a:spcBef>
              <a:buFont typeface="Wingdings" pitchFamily="2" charset="2"/>
              <a:buNone/>
            </a:pPr>
            <a:r>
              <a:rPr lang="en-US" altLang="en-US" sz="1600" dirty="0">
                <a:solidFill>
                  <a:srgbClr val="898989"/>
                </a:solidFill>
                <a:latin typeface="Times New Roman" pitchFamily="18" charset="0"/>
                <a:cs typeface="Times New Roman" pitchFamily="18" charset="0"/>
              </a:rPr>
              <a:t>DEAN R&amp;D  and Professor,</a:t>
            </a:r>
          </a:p>
          <a:p>
            <a:pPr algn="ctr" eaLnBrk="1" hangingPunct="1">
              <a:lnSpc>
                <a:spcPct val="150000"/>
              </a:lnSpc>
              <a:spcBef>
                <a:spcPct val="20000"/>
              </a:spcBef>
              <a:buFont typeface="Wingdings" pitchFamily="2" charset="2"/>
              <a:buNone/>
            </a:pPr>
            <a:r>
              <a:rPr lang="en-US" altLang="en-US" sz="1600" dirty="0">
                <a:solidFill>
                  <a:srgbClr val="898989"/>
                </a:solidFill>
                <a:latin typeface="Times New Roman" pitchFamily="18" charset="0"/>
                <a:cs typeface="Times New Roman" pitchFamily="18" charset="0"/>
              </a:rPr>
              <a:t>Department of Computer Science and Engineering,</a:t>
            </a:r>
          </a:p>
          <a:p>
            <a:pPr algn="ctr" eaLnBrk="1" hangingPunct="1">
              <a:lnSpc>
                <a:spcPct val="150000"/>
              </a:lnSpc>
              <a:spcBef>
                <a:spcPct val="20000"/>
              </a:spcBef>
              <a:buFont typeface="Wingdings" pitchFamily="2" charset="2"/>
              <a:buNone/>
            </a:pPr>
            <a:r>
              <a:rPr lang="en-US" altLang="en-US" sz="1600" dirty="0">
                <a:solidFill>
                  <a:srgbClr val="898989"/>
                </a:solidFill>
                <a:latin typeface="Times New Roman" pitchFamily="18" charset="0"/>
                <a:cs typeface="Times New Roman" pitchFamily="18" charset="0"/>
              </a:rPr>
              <a:t>Narasaraopeta Engineering College (Autonomous),</a:t>
            </a:r>
          </a:p>
          <a:p>
            <a:pPr algn="ctr" eaLnBrk="1" hangingPunct="1">
              <a:lnSpc>
                <a:spcPct val="150000"/>
              </a:lnSpc>
              <a:spcBef>
                <a:spcPct val="20000"/>
              </a:spcBef>
              <a:buFont typeface="Wingdings" pitchFamily="2" charset="2"/>
              <a:buNone/>
            </a:pPr>
            <a:r>
              <a:rPr lang="en-US" altLang="en-US" sz="1600" dirty="0">
                <a:solidFill>
                  <a:srgbClr val="898989"/>
                </a:solidFill>
                <a:latin typeface="Times New Roman" pitchFamily="18" charset="0"/>
                <a:cs typeface="Times New Roman" pitchFamily="18" charset="0"/>
              </a:rPr>
              <a:t>Narasaraopet- 522 601.</a:t>
            </a:r>
          </a:p>
        </p:txBody>
      </p:sp>
      <p:pic>
        <p:nvPicPr>
          <p:cNvPr id="9" name="Picture 8"/>
          <p:cNvPicPr>
            <a:picLocks noChangeAspect="1"/>
          </p:cNvPicPr>
          <p:nvPr/>
        </p:nvPicPr>
        <p:blipFill>
          <a:blip r:embed="rId3"/>
          <a:stretch>
            <a:fillRect/>
          </a:stretch>
        </p:blipFill>
        <p:spPr>
          <a:xfrm>
            <a:off x="0" y="90674"/>
            <a:ext cx="3762900" cy="579027"/>
          </a:xfrm>
          <a:prstGeom prst="rect">
            <a:avLst/>
          </a:prstGeom>
        </p:spPr>
      </p:pic>
    </p:spTree>
    <p:extLst>
      <p:ext uri="{BB962C8B-B14F-4D97-AF65-F5344CB8AC3E}">
        <p14:creationId xmlns:p14="http://schemas.microsoft.com/office/powerpoint/2010/main" val="1769691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274193"/>
            <a:ext cx="10515600" cy="4683829"/>
          </a:xfrm>
        </p:spPr>
        <p:txBody>
          <a:bodyPr>
            <a:normAutofit fontScale="62500" lnSpcReduction="20000"/>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Abstract</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 </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Literature Survey</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Research Gaps</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Problem Statement</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Objectives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Block Diagram / Flow Diagram</a:t>
            </a:r>
            <a:endParaRPr lang="en-IN"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Methodology</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Implementation</a:t>
            </a:r>
            <a:endParaRPr lang="en-IN"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Results and Analysis</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Conclusion &amp; Future Scope</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References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Question and Answers</a:t>
            </a:r>
            <a:endParaRPr lang="en-IN"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Acknowledgements</a:t>
            </a:r>
          </a:p>
          <a:p>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AB6FDF0-E799-4849-B95A-219EBAD61DDA}" type="datetime1">
              <a:rPr lang="en-IN" smtClean="0">
                <a:latin typeface="Times New Roman" panose="02020603050405020304" pitchFamily="18" charset="0"/>
                <a:cs typeface="Times New Roman" panose="02020603050405020304" pitchFamily="18" charset="0"/>
              </a:rPr>
              <a:t>10-02-2026</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6752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838200" y="365125"/>
            <a:ext cx="10515600" cy="1128009"/>
          </a:xfrm>
        </p:spPr>
        <p:txBody>
          <a:bodyPr/>
          <a:lstStyle/>
          <a:p>
            <a:pPr algn="ctr"/>
            <a:r>
              <a:rPr lang="en-US" b="1" dirty="0">
                <a:latin typeface="Times New Roman" panose="02020603050405020304" pitchFamily="18" charset="0"/>
                <a:cs typeface="Times New Roman" panose="02020603050405020304" pitchFamily="18" charset="0"/>
              </a:rPr>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marL="0" indent="0">
              <a:buNone/>
            </a:pPr>
            <a:r>
              <a:rPr lang="en-US" dirty="0">
                <a:latin typeface="Times New Roman" panose="02020603050405020304" pitchFamily="18" charset="0"/>
                <a:cs typeface="Times New Roman" panose="02020603050405020304" pitchFamily="18" charset="0"/>
              </a:rPr>
              <a:t>Road accidents cause major loss of life and property. To address this, we propose an explainable deep learning model that combines CNN, </a:t>
            </a:r>
            <a:r>
              <a:rPr lang="en-US" dirty="0" err="1">
                <a:latin typeface="Times New Roman" panose="02020603050405020304" pitchFamily="18" charset="0"/>
                <a:cs typeface="Times New Roman" panose="02020603050405020304" pitchFamily="18" charset="0"/>
              </a:rPr>
              <a:t>BiLSTM</a:t>
            </a:r>
            <a:r>
              <a:rPr lang="en-US" dirty="0">
                <a:latin typeface="Times New Roman" panose="02020603050405020304" pitchFamily="18" charset="0"/>
                <a:cs typeface="Times New Roman" panose="02020603050405020304" pitchFamily="18" charset="0"/>
              </a:rPr>
              <a:t>, and Attention to predict accident severity using spatial and temporal features. To make the predictions transparent, SHAP is used to identify the most important factors affecting severity, such as weather, lighting, and time. The model was tested on UK STATS19 and US Accident datasets, achieving high accuracy (86–87%) .This framework provides accurate and understandable accident risk predictions for better road safety planning.</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029BB5DD-A31D-453A-98A5-8547A68ADE5A}" type="datetime1">
              <a:rPr lang="en-IN" smtClean="0">
                <a:latin typeface="Times New Roman" panose="02020603050405020304" pitchFamily="18" charset="0"/>
                <a:cs typeface="Times New Roman" panose="02020603050405020304" pitchFamily="18" charset="0"/>
              </a:rPr>
              <a:t>10-02-2026</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4</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9108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fontScale="85000" lnSpcReduction="10000"/>
          </a:bodyPr>
          <a:lstStyle/>
          <a:p>
            <a:r>
              <a:rPr lang="en-US" dirty="0">
                <a:latin typeface="Times New Roman" panose="02020603050405020304" pitchFamily="18" charset="0"/>
                <a:cs typeface="Times New Roman" panose="02020603050405020304" pitchFamily="18" charset="0"/>
              </a:rPr>
              <a:t>Road traffic accidents are a major global concern, causing severe injuries, deaths, and significant economic loss each year.</a:t>
            </a:r>
          </a:p>
          <a:p>
            <a:r>
              <a:rPr lang="en-US" dirty="0">
                <a:latin typeface="Times New Roman" panose="02020603050405020304" pitchFamily="18" charset="0"/>
                <a:cs typeface="Times New Roman" panose="02020603050405020304" pitchFamily="18" charset="0"/>
              </a:rPr>
              <a:t>Accident severity is influenced by multiple factors such as weather conditions, lighting, road surface, traffic signals, and time of day, making prediction complex.</a:t>
            </a:r>
          </a:p>
          <a:p>
            <a:r>
              <a:rPr lang="en-US" dirty="0">
                <a:latin typeface="Times New Roman" panose="02020603050405020304" pitchFamily="18" charset="0"/>
                <a:cs typeface="Times New Roman" panose="02020603050405020304" pitchFamily="18" charset="0"/>
              </a:rPr>
              <a:t>Traditional machine learning models usually focus on limited features and fail to capture the combined spatial and temporal patterns present in accident data.</a:t>
            </a:r>
          </a:p>
          <a:p>
            <a:r>
              <a:rPr lang="en-US" dirty="0">
                <a:latin typeface="Times New Roman" panose="02020603050405020304" pitchFamily="18" charset="0"/>
                <a:cs typeface="Times New Roman" panose="02020603050405020304" pitchFamily="18" charset="0"/>
              </a:rPr>
              <a:t>Objective: This study proposes a hybrid deep learning approach that integrates CNN, </a:t>
            </a:r>
            <a:r>
              <a:rPr lang="en-US" dirty="0" err="1">
                <a:latin typeface="Times New Roman" panose="02020603050405020304" pitchFamily="18" charset="0"/>
                <a:cs typeface="Times New Roman" panose="02020603050405020304" pitchFamily="18" charset="0"/>
              </a:rPr>
              <a:t>BiLSTM</a:t>
            </a:r>
            <a:r>
              <a:rPr lang="en-US" dirty="0">
                <a:latin typeface="Times New Roman" panose="02020603050405020304" pitchFamily="18" charset="0"/>
                <a:cs typeface="Times New Roman" panose="02020603050405020304" pitchFamily="18" charset="0"/>
              </a:rPr>
              <a:t>, and Attention mechanisms to improve the accuracy of accident severity prediction.</a:t>
            </a:r>
          </a:p>
          <a:p>
            <a:r>
              <a:rPr lang="en-US" dirty="0">
                <a:latin typeface="Times New Roman" panose="02020603050405020304" pitchFamily="18" charset="0"/>
                <a:cs typeface="Times New Roman" panose="02020603050405020304" pitchFamily="18" charset="0"/>
              </a:rPr>
              <a:t>Research Goal: To develop an explainable model that predicts accident severity and identifies key influencing factors using SHAP, helping traffic authorities enhance road safety and make informed decisions.</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6BF8B418-C8A9-433C-841D-AA858F4914E9}" type="datetime1">
              <a:rPr lang="en-IN" smtClean="0">
                <a:latin typeface="Times New Roman" panose="02020603050405020304" pitchFamily="18" charset="0"/>
                <a:cs typeface="Times New Roman" panose="02020603050405020304" pitchFamily="18" charset="0"/>
              </a:rPr>
              <a:t>10-02-2026</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a:xfrm>
            <a:off x="4038600" y="6356350"/>
            <a:ext cx="4180840" cy="365125"/>
          </a:xfrm>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5</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5754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6"/>
            <a:ext cx="10173182" cy="56215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SURVEY</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03A4420F-BFAF-4008-BE15-27CA4FDC6BE0}" type="datetime1">
              <a:rPr lang="en-IN" smtClean="0">
                <a:latin typeface="Times New Roman" panose="02020603050405020304" pitchFamily="18" charset="0"/>
                <a:cs typeface="Times New Roman" panose="02020603050405020304" pitchFamily="18" charset="0"/>
              </a:rPr>
              <a:t>10-02-2026</a:t>
            </a:fld>
            <a:endParaRPr lang="en-US">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6</a:t>
            </a:fld>
            <a:endParaRPr lang="en-US">
              <a:latin typeface="Times New Roman" panose="02020603050405020304" pitchFamily="18" charset="0"/>
              <a:cs typeface="Times New Roman" panose="02020603050405020304" pitchFamily="18" charset="0"/>
            </a:endParaRPr>
          </a:p>
        </p:txBody>
      </p:sp>
      <p:sp>
        <p:nvSpPr>
          <p:cNvPr id="10" name="Content Placeholder 8">
            <a:extLst>
              <a:ext uri="{FF2B5EF4-FFF2-40B4-BE49-F238E27FC236}">
                <a16:creationId xmlns:a16="http://schemas.microsoft.com/office/drawing/2014/main" id="{3E8CACDC-CE1B-448A-5D5F-BF4D715F95AE}"/>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p:txBody>
      </p:sp>
      <p:sp>
        <p:nvSpPr>
          <p:cNvPr id="4" name="Footer Placeholder 5">
            <a:extLst>
              <a:ext uri="{FF2B5EF4-FFF2-40B4-BE49-F238E27FC236}">
                <a16:creationId xmlns:a16="http://schemas.microsoft.com/office/drawing/2014/main" id="{2AF3056F-D8D4-B161-D13C-77058BB28031}"/>
              </a:ext>
            </a:extLst>
          </p:cNvPr>
          <p:cNvSpPr>
            <a:spLocks noGrp="1"/>
          </p:cNvSpPr>
          <p:nvPr>
            <p:ph type="ftr" sz="quarter" idx="11"/>
          </p:nvPr>
        </p:nvSpPr>
        <p:spPr>
          <a:xfrm>
            <a:off x="4038600" y="6481763"/>
            <a:ext cx="4272280" cy="239712"/>
          </a:xfrm>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graphicFrame>
        <p:nvGraphicFramePr>
          <p:cNvPr id="2" name="Table 3">
            <a:extLst>
              <a:ext uri="{FF2B5EF4-FFF2-40B4-BE49-F238E27FC236}">
                <a16:creationId xmlns:a16="http://schemas.microsoft.com/office/drawing/2014/main" id="{D5492C34-DF62-E3B9-3F6C-997B49ACCC8A}"/>
              </a:ext>
            </a:extLst>
          </p:cNvPr>
          <p:cNvGraphicFramePr>
            <a:graphicFrameLocks noGrp="1"/>
          </p:cNvGraphicFramePr>
          <p:nvPr>
            <p:extLst>
              <p:ext uri="{D42A27DB-BD31-4B8C-83A1-F6EECF244321}">
                <p14:modId xmlns:p14="http://schemas.microsoft.com/office/powerpoint/2010/main" val="850159615"/>
              </p:ext>
            </p:extLst>
          </p:nvPr>
        </p:nvGraphicFramePr>
        <p:xfrm>
          <a:off x="533400" y="927280"/>
          <a:ext cx="10820400" cy="5362920"/>
        </p:xfrm>
        <a:graphic>
          <a:graphicData uri="http://schemas.openxmlformats.org/drawingml/2006/table">
            <a:tbl>
              <a:tblPr firstRow="1" bandRow="1">
                <a:tableStyleId>{17292A2E-F333-43FB-9621-5CBBE7FDCDCB}</a:tableStyleId>
              </a:tblPr>
              <a:tblGrid>
                <a:gridCol w="608080">
                  <a:extLst>
                    <a:ext uri="{9D8B030D-6E8A-4147-A177-3AD203B41FA5}">
                      <a16:colId xmlns:a16="http://schemas.microsoft.com/office/drawing/2014/main" val="166576671"/>
                    </a:ext>
                  </a:extLst>
                </a:gridCol>
                <a:gridCol w="2991793">
                  <a:extLst>
                    <a:ext uri="{9D8B030D-6E8A-4147-A177-3AD203B41FA5}">
                      <a16:colId xmlns:a16="http://schemas.microsoft.com/office/drawing/2014/main" val="946789180"/>
                    </a:ext>
                  </a:extLst>
                </a:gridCol>
                <a:gridCol w="1068647">
                  <a:extLst>
                    <a:ext uri="{9D8B030D-6E8A-4147-A177-3AD203B41FA5}">
                      <a16:colId xmlns:a16="http://schemas.microsoft.com/office/drawing/2014/main" val="3483638722"/>
                    </a:ext>
                  </a:extLst>
                </a:gridCol>
                <a:gridCol w="1381760">
                  <a:extLst>
                    <a:ext uri="{9D8B030D-6E8A-4147-A177-3AD203B41FA5}">
                      <a16:colId xmlns:a16="http://schemas.microsoft.com/office/drawing/2014/main" val="1190061112"/>
                    </a:ext>
                  </a:extLst>
                </a:gridCol>
                <a:gridCol w="1168400">
                  <a:extLst>
                    <a:ext uri="{9D8B030D-6E8A-4147-A177-3AD203B41FA5}">
                      <a16:colId xmlns:a16="http://schemas.microsoft.com/office/drawing/2014/main" val="3469305604"/>
                    </a:ext>
                  </a:extLst>
                </a:gridCol>
                <a:gridCol w="1682865">
                  <a:extLst>
                    <a:ext uri="{9D8B030D-6E8A-4147-A177-3AD203B41FA5}">
                      <a16:colId xmlns:a16="http://schemas.microsoft.com/office/drawing/2014/main" val="3853106642"/>
                    </a:ext>
                  </a:extLst>
                </a:gridCol>
                <a:gridCol w="1918855">
                  <a:extLst>
                    <a:ext uri="{9D8B030D-6E8A-4147-A177-3AD203B41FA5}">
                      <a16:colId xmlns:a16="http://schemas.microsoft.com/office/drawing/2014/main" val="1601472594"/>
                    </a:ext>
                  </a:extLst>
                </a:gridCol>
              </a:tblGrid>
              <a:tr h="1030437">
                <a:tc>
                  <a:txBody>
                    <a:bodyPr/>
                    <a:lstStyle/>
                    <a:p>
                      <a:pPr algn="ctr"/>
                      <a:r>
                        <a:rPr lang="en-US" sz="1600" dirty="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Journal Name &amp;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Methodology Adapted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Key Findings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Gaps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7051210"/>
                  </a:ext>
                </a:extLst>
              </a:tr>
              <a:tr h="912673">
                <a:tc>
                  <a:txBody>
                    <a:bodyPr/>
                    <a:lstStyle/>
                    <a:p>
                      <a:r>
                        <a:rPr lang="en-US" sz="1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CNN-Based Deep Learning Model for Accident Severity </a:t>
                      </a:r>
                      <a:r>
                        <a:rPr lang="en-US" sz="1400" dirty="0" err="1"/>
                        <a:t>Predictio</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M. Zheng et 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ResearchGate, 2019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CNN for spatial feature extraction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Good accuracy in identifying crash severity using spatial patterns</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No temporal learning; lacks explainability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8357853"/>
                  </a:ext>
                </a:extLst>
              </a:tr>
              <a:tr h="755654">
                <a:tc>
                  <a:txBody>
                    <a:bodyPr/>
                    <a:lstStyle/>
                    <a:p>
                      <a:r>
                        <a:rPr lang="en-US" sz="14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Predicting Accident Occurrence Using Spatial–Temporal Attention Networks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Y. Wang et al</a:t>
                      </a:r>
                      <a:r>
                        <a:rPr lang="en-US" sz="1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IEEE / </a:t>
                      </a:r>
                      <a:r>
                        <a:rPr lang="en-IN" sz="1400" dirty="0" err="1"/>
                        <a:t>arXiv</a:t>
                      </a:r>
                      <a:r>
                        <a:rPr lang="en-IN" sz="1400" dirty="0"/>
                        <a:t>, 2021</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Spatial-Temporal Attention 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Effectively captures space + time patterns in accidents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No explanation of predictions; black-box 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55654">
                <a:tc>
                  <a:txBody>
                    <a:bodyPr/>
                    <a:lstStyle/>
                    <a:p>
                      <a:r>
                        <a:rPr lang="en-US" sz="14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t>Traffic Accident Risk Evaluation Using Multi-Source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Y. Wang et al.</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Electronics, 2024</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GRU + AdaBoost</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Improved accuracy using multi-source features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Doesn’t provide model interpretability</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36231"/>
                  </a:ext>
                </a:extLst>
              </a:tr>
              <a:tr h="955549">
                <a:tc>
                  <a:txBody>
                    <a:bodyPr/>
                    <a:lstStyle/>
                    <a:p>
                      <a:r>
                        <a:rPr lang="en-US" sz="14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t>IoT-Based Vehicle Safety Alert System</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Thakur &amp; Verma</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IJCA,2022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IoT sensors + alert mechanism</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Helps in real-time driver alert systems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Not AI-based; no predictive model</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5402542"/>
                  </a:ext>
                </a:extLst>
              </a:tr>
              <a:tr h="711251">
                <a:tc>
                  <a:txBody>
                    <a:bodyPr/>
                    <a:lstStyle/>
                    <a:p>
                      <a:r>
                        <a:rPr lang="en-US" sz="14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dirty="0"/>
                        <a:t>Global Road Safety Report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WHO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WHO Report, 2022</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Statistical analysis</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Highlights rapid rise in accidents worldwide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No machine learning or predictive framework</a:t>
                      </a:r>
                      <a:r>
                        <a:rPr lang="en-US" sz="1400" baseline="0" dirty="0"/>
                        <a:t>.</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671723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normAutofit/>
          </a:bodyPr>
          <a:lstStyle/>
          <a:p>
            <a:pPr algn="ctr"/>
            <a:r>
              <a:rPr lang="en-US" b="1" dirty="0">
                <a:latin typeface="Times New Roman" panose="02020603050405020304" pitchFamily="18" charset="0"/>
                <a:cs typeface="Times New Roman" panose="02020603050405020304" pitchFamily="18" charset="0"/>
              </a:rPr>
              <a:t>LITERATURE SURVEY</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1304CB0-5C32-4CD2-AE12-901E487948B1}" type="datetime1">
              <a:rPr lang="en-IN" smtClean="0">
                <a:latin typeface="Times New Roman" panose="02020603050405020304" pitchFamily="18" charset="0"/>
                <a:cs typeface="Times New Roman" panose="02020603050405020304" pitchFamily="18" charset="0"/>
              </a:rPr>
              <a:t>10-02-2026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7</a:t>
            </a:fld>
            <a:endParaRPr lang="en-US" dirty="0">
              <a:latin typeface="Times New Roman" panose="02020603050405020304" pitchFamily="18" charset="0"/>
              <a:cs typeface="Times New Roman" panose="02020603050405020304" pitchFamily="18" charset="0"/>
            </a:endParaRPr>
          </a:p>
        </p:txBody>
      </p:sp>
      <p:sp>
        <p:nvSpPr>
          <p:cNvPr id="10" name="Content Placeholder 8">
            <a:extLst>
              <a:ext uri="{FF2B5EF4-FFF2-40B4-BE49-F238E27FC236}">
                <a16:creationId xmlns:a16="http://schemas.microsoft.com/office/drawing/2014/main" id="{3E8CACDC-CE1B-448A-5D5F-BF4D715F95AE}"/>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p:txBody>
      </p:sp>
      <p:sp>
        <p:nvSpPr>
          <p:cNvPr id="11" name="Content Placeholder 2">
            <a:extLst>
              <a:ext uri="{FF2B5EF4-FFF2-40B4-BE49-F238E27FC236}">
                <a16:creationId xmlns:a16="http://schemas.microsoft.com/office/drawing/2014/main" id="{DE75E837-80F2-2F7E-EE44-1C3B3BA219D3}"/>
              </a:ext>
            </a:extLst>
          </p:cNvPr>
          <p:cNvSpPr txBox="1">
            <a:spLocks/>
          </p:cNvSpPr>
          <p:nvPr/>
        </p:nvSpPr>
        <p:spPr>
          <a:xfrm>
            <a:off x="914400" y="167252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dirty="0">
                <a:latin typeface="Times New Roman" panose="02020603050405020304" pitchFamily="18" charset="0"/>
                <a:cs typeface="Times New Roman" panose="02020603050405020304" pitchFamily="18" charset="0"/>
              </a:rPr>
              <a:t>Zheng et al. (2019) used a CNN-based model for accident severity prediction. It extracted spatial patterns effectively but failed to capture time-based information.</a:t>
            </a:r>
          </a:p>
          <a:p>
            <a:pPr algn="just"/>
            <a:r>
              <a:rPr lang="en-US" sz="2400" dirty="0">
                <a:latin typeface="Times New Roman" panose="02020603050405020304" pitchFamily="18" charset="0"/>
                <a:cs typeface="Times New Roman" panose="02020603050405020304" pitchFamily="18" charset="0"/>
              </a:rPr>
              <a:t>Wang et al. (2021) proposed a Spatial–Temporal Attention Network that learned both spatial and temporal features but lacked interpretability.</a:t>
            </a:r>
          </a:p>
          <a:p>
            <a:pPr algn="just"/>
            <a:r>
              <a:rPr lang="en-US" sz="2400" dirty="0">
                <a:latin typeface="Times New Roman" panose="02020603050405020304" pitchFamily="18" charset="0"/>
                <a:cs typeface="Times New Roman" panose="02020603050405020304" pitchFamily="18" charset="0"/>
              </a:rPr>
              <a:t>Omar (2024) combined a deep learning model with SHAP for explainable predictions, but the model did not include temporal learning components such as LSTM or </a:t>
            </a:r>
            <a:r>
              <a:rPr lang="en-US" sz="2400" dirty="0" err="1">
                <a:latin typeface="Times New Roman" panose="02020603050405020304" pitchFamily="18" charset="0"/>
                <a:cs typeface="Times New Roman" panose="02020603050405020304" pitchFamily="18" charset="0"/>
              </a:rPr>
              <a:t>BiLSTM</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Thakur &amp; Verma (2022) developed an IoT-based vehicle safety alert system, which was useful for real-time alerts but did not include predictive deep learning.</a:t>
            </a:r>
          </a:p>
          <a:p>
            <a:pPr algn="just"/>
            <a:r>
              <a:rPr lang="en-US" sz="2400" dirty="0">
                <a:latin typeface="Times New Roman" panose="02020603050405020304" pitchFamily="18" charset="0"/>
                <a:cs typeface="Times New Roman" panose="02020603050405020304" pitchFamily="18" charset="0"/>
              </a:rPr>
              <a:t>WHO Report (2022) highlighted the increasing global rise in road accidents, showing the need for predictive and preventive systems.</a:t>
            </a:r>
          </a:p>
        </p:txBody>
      </p:sp>
    </p:spTree>
    <p:extLst>
      <p:ext uri="{BB962C8B-B14F-4D97-AF65-F5344CB8AC3E}">
        <p14:creationId xmlns:p14="http://schemas.microsoft.com/office/powerpoint/2010/main" val="496583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PROBLEM STATEMENT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fontScale="92500" lnSpcReduction="10000"/>
          </a:bodyPr>
          <a:lstStyle/>
          <a:p>
            <a:pPr algn="just"/>
            <a:r>
              <a:rPr lang="en-US" dirty="0"/>
              <a:t>In today’s fast-growing transportation environment, the number of road traffic accidents continues to rise, leading to severe injuries, fatalities, and economic loss.</a:t>
            </a:r>
          </a:p>
          <a:p>
            <a:pPr algn="just"/>
            <a:r>
              <a:rPr lang="en-US" dirty="0"/>
              <a:t>Accident severity depends on multiple complex factors such as weather, lighting, road conditions, traffic signals, and time of the day.</a:t>
            </a:r>
          </a:p>
          <a:p>
            <a:pPr algn="just"/>
            <a:r>
              <a:rPr lang="en-US" dirty="0"/>
              <a:t>Existing models often analyze these factors independently, failing to capture the combined spatial and temporal relationships present in real-world accident data.</a:t>
            </a:r>
          </a:p>
          <a:p>
            <a:pPr algn="just"/>
            <a:r>
              <a:rPr lang="en-US"/>
              <a:t>The </a:t>
            </a:r>
            <a:r>
              <a:rPr lang="en-US" dirty="0"/>
              <a:t>complexity and non-linear nature of traffic data create challenges in accurately predicting accident severity and identifying the key factors influencing it.</a:t>
            </a: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CFF777C-9412-4F7A-97DC-AFDC7850F908}" type="datetime1">
              <a:rPr lang="en-IN" smtClean="0">
                <a:latin typeface="Times New Roman" panose="02020603050405020304" pitchFamily="18" charset="0"/>
                <a:cs typeface="Times New Roman" panose="02020603050405020304" pitchFamily="18" charset="0"/>
              </a:rPr>
              <a:t>10-02-2026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8</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9738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RESEARCH GAPS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lnSpcReduction="10000"/>
          </a:bodyPr>
          <a:lstStyle/>
          <a:p>
            <a:pPr algn="just">
              <a:lnSpc>
                <a:spcPct val="100000"/>
              </a:lnSpc>
            </a:pPr>
            <a:r>
              <a:rPr lang="en-US" sz="2600" dirty="0">
                <a:latin typeface="Times New Roman" panose="02020603050405020304" pitchFamily="18" charset="0"/>
                <a:cs typeface="Times New Roman" panose="02020603050405020304" pitchFamily="18" charset="0"/>
              </a:rPr>
              <a:t>Limited </a:t>
            </a:r>
            <a:r>
              <a:rPr lang="en-US" sz="2600" dirty="0" err="1">
                <a:latin typeface="Times New Roman" panose="02020603050405020304" pitchFamily="18" charset="0"/>
                <a:cs typeface="Times New Roman" panose="02020603050405020304" pitchFamily="18" charset="0"/>
              </a:rPr>
              <a:t>Spatio</a:t>
            </a:r>
            <a:r>
              <a:rPr lang="en-US" sz="2600" dirty="0">
                <a:latin typeface="Times New Roman" panose="02020603050405020304" pitchFamily="18" charset="0"/>
                <a:cs typeface="Times New Roman" panose="02020603050405020304" pitchFamily="18" charset="0"/>
              </a:rPr>
              <a:t>-Temporal Focus: Many existing models analyze either spatial features (CNN) or temporal patterns (LSTM) separately, missing their combined impact on accident severity.</a:t>
            </a:r>
          </a:p>
          <a:p>
            <a:pPr algn="just">
              <a:lnSpc>
                <a:spcPct val="100000"/>
              </a:lnSpc>
            </a:pPr>
            <a:r>
              <a:rPr lang="en-US" sz="2600" dirty="0">
                <a:latin typeface="Times New Roman" panose="02020603050405020304" pitchFamily="18" charset="0"/>
                <a:cs typeface="Times New Roman" panose="02020603050405020304" pitchFamily="18" charset="0"/>
              </a:rPr>
              <a:t>Dataset Limitations: Accident datasets are often imbalanced, contain missing values, or lack diversity across regions and conditions, affecting model reliability.</a:t>
            </a:r>
          </a:p>
          <a:p>
            <a:pPr algn="just">
              <a:lnSpc>
                <a:spcPct val="100000"/>
              </a:lnSpc>
            </a:pPr>
            <a:r>
              <a:rPr lang="en-US" sz="2600" dirty="0">
                <a:latin typeface="Times New Roman" panose="02020603050405020304" pitchFamily="18" charset="0"/>
                <a:cs typeface="Times New Roman" panose="02020603050405020304" pitchFamily="18" charset="0"/>
              </a:rPr>
              <a:t>Real-Time Prediction Challenges: Few systems are designed for real-time accident severity prediction using live traffic, weather, and sensor data.</a:t>
            </a:r>
          </a:p>
          <a:p>
            <a:pPr algn="just">
              <a:lnSpc>
                <a:spcPct val="100000"/>
              </a:lnSpc>
            </a:pPr>
            <a:r>
              <a:rPr lang="en-US" sz="2600" dirty="0">
                <a:latin typeface="Times New Roman" panose="02020603050405020304" pitchFamily="18" charset="0"/>
                <a:cs typeface="Times New Roman" panose="02020603050405020304" pitchFamily="18" charset="0"/>
              </a:rPr>
              <a:t>Lack of Explainability: Most deep learning models function as black boxes and do not clearly explain which factors contribute to severity predictions.</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CC145644-9C36-4723-9917-28FD9612030A}" type="datetime1">
              <a:rPr lang="en-IN" smtClean="0">
                <a:latin typeface="Times New Roman" panose="02020603050405020304" pitchFamily="18" charset="0"/>
                <a:cs typeface="Times New Roman" panose="02020603050405020304" pitchFamily="18" charset="0"/>
              </a:rPr>
              <a:t>10-02-2026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9</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71576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OBJECTIVES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Designed a deep learning–based system for accurate prediction of traffic accident severity.</a:t>
            </a:r>
          </a:p>
          <a:p>
            <a:pPr algn="just"/>
            <a:r>
              <a:rPr lang="en-US" dirty="0">
                <a:latin typeface="Times New Roman" panose="02020603050405020304" pitchFamily="18" charset="0"/>
                <a:cs typeface="Times New Roman" panose="02020603050405020304" pitchFamily="18" charset="0"/>
              </a:rPr>
              <a:t>Developed a unified model using CNN for spatial features and </a:t>
            </a:r>
            <a:r>
              <a:rPr lang="en-US" dirty="0" err="1">
                <a:latin typeface="Times New Roman" panose="02020603050405020304" pitchFamily="18" charset="0"/>
                <a:cs typeface="Times New Roman" panose="02020603050405020304" pitchFamily="18" charset="0"/>
              </a:rPr>
              <a:t>BiLSTM</a:t>
            </a:r>
            <a:r>
              <a:rPr lang="en-US" dirty="0">
                <a:latin typeface="Times New Roman" panose="02020603050405020304" pitchFamily="18" charset="0"/>
                <a:cs typeface="Times New Roman" panose="02020603050405020304" pitchFamily="18" charset="0"/>
              </a:rPr>
              <a:t> with Attention for temporal pattern learning.</a:t>
            </a:r>
          </a:p>
          <a:p>
            <a:pPr algn="just"/>
            <a:r>
              <a:rPr lang="en-US" dirty="0">
                <a:latin typeface="Times New Roman" panose="02020603050405020304" pitchFamily="18" charset="0"/>
                <a:cs typeface="Times New Roman" panose="02020603050405020304" pitchFamily="18" charset="0"/>
              </a:rPr>
              <a:t>Ensured robustness in predicting accident severity across diverse conditions such as weather, lighting, and road surface.</a:t>
            </a:r>
          </a:p>
          <a:p>
            <a:pPr algn="just"/>
            <a:r>
              <a:rPr lang="en-US" dirty="0">
                <a:latin typeface="Times New Roman" panose="02020603050405020304" pitchFamily="18" charset="0"/>
                <a:cs typeface="Times New Roman" panose="02020603050405020304" pitchFamily="18" charset="0"/>
              </a:rPr>
              <a:t>Built a complete pipeline for accident severity prediction, including preprocessing, data balancing (</a:t>
            </a:r>
            <a:r>
              <a:rPr lang="en-US" dirty="0" err="1">
                <a:latin typeface="Times New Roman" panose="02020603050405020304" pitchFamily="18" charset="0"/>
                <a:cs typeface="Times New Roman" panose="02020603050405020304" pitchFamily="18" charset="0"/>
              </a:rPr>
              <a:t>SMOTETomek</a:t>
            </a:r>
            <a:r>
              <a:rPr lang="en-US" dirty="0">
                <a:latin typeface="Times New Roman" panose="02020603050405020304" pitchFamily="18" charset="0"/>
                <a:cs typeface="Times New Roman" panose="02020603050405020304" pitchFamily="18" charset="0"/>
              </a:rPr>
              <a:t>), model training, and SHAP-based interpretation.</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9956EA97-E881-45B4-814F-E115E07FF231}" type="datetime1">
              <a:rPr lang="en-IN" smtClean="0">
                <a:latin typeface="Times New Roman" panose="02020603050405020304" pitchFamily="18" charset="0"/>
                <a:cs typeface="Times New Roman" panose="02020603050405020304" pitchFamily="18" charset="0"/>
              </a:rPr>
              <a:t>10-02-2026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10</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123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BLOCK DIAGRAM OR FLOW DIAGRAM</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9B0085F-D9A5-4A6C-8CEF-1E655B233E3D}" type="datetime1">
              <a:rPr lang="en-IN" smtClean="0">
                <a:latin typeface="Times New Roman" panose="02020603050405020304" pitchFamily="18" charset="0"/>
                <a:cs typeface="Times New Roman" panose="02020603050405020304" pitchFamily="18" charset="0"/>
              </a:rPr>
              <a:t>10-02-2026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11</a:t>
            </a:fld>
            <a:endParaRPr lang="en-US">
              <a:latin typeface="Times New Roman" panose="02020603050405020304" pitchFamily="18" charset="0"/>
              <a:cs typeface="Times New Roman" panose="02020603050405020304" pitchFamily="18" charset="0"/>
            </a:endParaRPr>
          </a:p>
        </p:txBody>
      </p:sp>
      <p:pic>
        <p:nvPicPr>
          <p:cNvPr id="2" name="Content Placeholder 1">
            <a:extLst>
              <a:ext uri="{FF2B5EF4-FFF2-40B4-BE49-F238E27FC236}">
                <a16:creationId xmlns:a16="http://schemas.microsoft.com/office/drawing/2014/main" id="{3CE8C3B9-1BD5-7755-2D13-87928909249D}"/>
              </a:ext>
            </a:extLst>
          </p:cNvPr>
          <p:cNvPicPr>
            <a:picLocks noGrp="1" noChangeAspect="1"/>
          </p:cNvPicPr>
          <p:nvPr>
            <p:ph idx="1"/>
          </p:nvPr>
        </p:nvPicPr>
        <p:blipFill>
          <a:blip r:embed="rId2"/>
          <a:stretch>
            <a:fillRect/>
          </a:stretch>
        </p:blipFill>
        <p:spPr>
          <a:xfrm>
            <a:off x="4328160" y="1349534"/>
            <a:ext cx="3218286" cy="4827429"/>
          </a:xfrm>
          <a:prstGeom prst="rect">
            <a:avLst/>
          </a:prstGeom>
        </p:spPr>
      </p:pic>
    </p:spTree>
    <p:extLst>
      <p:ext uri="{BB962C8B-B14F-4D97-AF65-F5344CB8AC3E}">
        <p14:creationId xmlns:p14="http://schemas.microsoft.com/office/powerpoint/2010/main" val="2137029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METHODOLOGY</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351338"/>
          </a:xfrm>
        </p:spPr>
        <p:txBody>
          <a:bodyPr>
            <a:normAutofit lnSpcReduction="10000"/>
          </a:bodyPr>
          <a:lstStyle/>
          <a:p>
            <a:pPr algn="just"/>
            <a:r>
              <a:rPr lang="en-US" dirty="0"/>
              <a:t>The project uses two datasets: the </a:t>
            </a:r>
            <a:r>
              <a:rPr lang="en-US" b="1" dirty="0"/>
              <a:t>UK Accident Dataset</a:t>
            </a:r>
            <a:r>
              <a:rPr lang="en-US" dirty="0"/>
              <a:t> and the </a:t>
            </a:r>
            <a:r>
              <a:rPr lang="en-US" b="1" dirty="0"/>
              <a:t>US Accident Dataset</a:t>
            </a:r>
            <a:r>
              <a:rPr lang="en-US" dirty="0"/>
              <a:t>.</a:t>
            </a:r>
          </a:p>
          <a:p>
            <a:pPr algn="just"/>
            <a:r>
              <a:rPr lang="en-US" dirty="0"/>
              <a:t>Both datasets were cleaned by removing missing values and duplicates to ensure data quality.</a:t>
            </a:r>
          </a:p>
          <a:p>
            <a:pPr algn="just"/>
            <a:r>
              <a:rPr lang="en-US" dirty="0"/>
              <a:t>After preprocessing, the data was split into training and testing sets.</a:t>
            </a:r>
          </a:p>
          <a:p>
            <a:pPr algn="just"/>
            <a:r>
              <a:rPr lang="en-US" dirty="0"/>
              <a:t>Each dataset underwent individual preprocessing based on its structure—categorical features were encoded, and numerical features were normalized.</a:t>
            </a:r>
          </a:p>
          <a:p>
            <a:pPr algn="just"/>
            <a:r>
              <a:rPr lang="en-US" dirty="0"/>
              <a:t>Both datasets were then used to train the model, helping improve the reliability and generalization of accident severity prediction.</a:t>
            </a: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853DCBD-31C4-4A24-B541-C91A2596D28E}" type="datetime1">
              <a:rPr lang="en-IN" smtClean="0">
                <a:latin typeface="Times New Roman" panose="02020603050405020304" pitchFamily="18" charset="0"/>
                <a:cs typeface="Times New Roman" panose="02020603050405020304" pitchFamily="18" charset="0"/>
              </a:rPr>
              <a:t>10-02-2026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12</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42011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2785402" y="728051"/>
            <a:ext cx="6162291" cy="687820"/>
          </a:xfrm>
        </p:spPr>
        <p:txBody>
          <a:bodyPr>
            <a:normAutofit/>
          </a:bodyPr>
          <a:lstStyle/>
          <a:p>
            <a:pPr algn="ctr"/>
            <a:r>
              <a:rPr lang="en-US" sz="3600" b="1" dirty="0">
                <a:latin typeface="Times New Roman" panose="02020603050405020304" pitchFamily="18" charset="0"/>
                <a:cs typeface="Times New Roman" panose="02020603050405020304" pitchFamily="18" charset="0"/>
              </a:rPr>
              <a:t>About Dataset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591578"/>
            <a:ext cx="10515600" cy="4351338"/>
          </a:xfrm>
        </p:spPr>
        <p:txBody>
          <a:bodyPr>
            <a:normAutofit fontScale="85000" lnSpcReduction="10000"/>
          </a:bodyPr>
          <a:lstStyle/>
          <a:p>
            <a:r>
              <a:rPr lang="en-US" dirty="0"/>
              <a:t>This work uses two datasets: the </a:t>
            </a:r>
            <a:r>
              <a:rPr lang="en-US" b="1" dirty="0"/>
              <a:t>UK Accident Dataset</a:t>
            </a:r>
            <a:r>
              <a:rPr lang="en-US" dirty="0"/>
              <a:t> and the </a:t>
            </a:r>
            <a:r>
              <a:rPr lang="en-US" b="1" dirty="0"/>
              <a:t>US Accident Dataset</a:t>
            </a:r>
            <a:r>
              <a:rPr lang="en-US" dirty="0"/>
              <a:t>, providing a broad and diverse set of real-world traffic accident records.</a:t>
            </a:r>
          </a:p>
          <a:p>
            <a:r>
              <a:rPr lang="en-US" b="1" dirty="0"/>
              <a:t>UK Dataset:</a:t>
            </a:r>
            <a:br>
              <a:rPr lang="en-US" dirty="0"/>
            </a:br>
            <a:r>
              <a:rPr lang="en-US" dirty="0"/>
              <a:t>Contains structured accident reports with details such as weather, road type, lighting conditions, vehicle information, and severity levels (Slight, Serious, Fatal). It offers clean and well-organized data from an official national source.</a:t>
            </a:r>
          </a:p>
          <a:p>
            <a:r>
              <a:rPr lang="en-US" b="1" dirty="0"/>
              <a:t> US Dataset:</a:t>
            </a:r>
            <a:br>
              <a:rPr lang="en-US" dirty="0"/>
            </a:br>
            <a:r>
              <a:rPr lang="en-US" dirty="0"/>
              <a:t>A large multi-state accident dataset collected from sensors, emergency reports, and traffic monitoring systems. It includes environmental factors like temperature, visibility, humidity, and traffic conditions, offering wider geographic and climatic variability.</a:t>
            </a:r>
          </a:p>
          <a:p>
            <a:r>
              <a:rPr lang="en-US" dirty="0"/>
              <a:t>Together, these datasets provide rich, complementary features that help build a more robust and generalizable accident prediction model.</a:t>
            </a: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853DCBD-31C4-4A24-B541-C91A2596D28E}" type="datetime1">
              <a:rPr lang="en-IN" smtClean="0">
                <a:latin typeface="Times New Roman" panose="02020603050405020304" pitchFamily="18" charset="0"/>
                <a:cs typeface="Times New Roman" panose="02020603050405020304" pitchFamily="18" charset="0"/>
              </a:rPr>
              <a:t>10-02-2026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13</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8642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2459035" y="856600"/>
            <a:ext cx="7303801" cy="895134"/>
          </a:xfrm>
        </p:spPr>
        <p:txBody>
          <a:bodyPr>
            <a:noAutofit/>
          </a:bodyPr>
          <a:lstStyle/>
          <a:p>
            <a:pPr algn="ctr"/>
            <a:r>
              <a:rPr lang="en-US" sz="3600" b="1" dirty="0">
                <a:latin typeface="Times New Roman" panose="02020603050405020304" pitchFamily="18" charset="0"/>
                <a:cs typeface="Times New Roman" panose="02020603050405020304" pitchFamily="18" charset="0"/>
              </a:rPr>
              <a:t>Data Preprocessing and Balancing</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853DCBD-31C4-4A24-B541-C91A2596D28E}" type="datetime1">
              <a:rPr lang="en-IN" smtClean="0">
                <a:latin typeface="Times New Roman" panose="02020603050405020304" pitchFamily="18" charset="0"/>
                <a:cs typeface="Times New Roman" panose="02020603050405020304" pitchFamily="18" charset="0"/>
              </a:rPr>
              <a:t>10-02-2026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14</a:t>
            </a:fld>
            <a:endParaRPr lang="en-US">
              <a:latin typeface="Times New Roman" panose="020206030504050203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51684795-A4CF-DF71-0012-61ADFB2888BD}"/>
              </a:ext>
            </a:extLst>
          </p:cNvPr>
          <p:cNvSpPr>
            <a:spLocks noGrp="1"/>
          </p:cNvSpPr>
          <p:nvPr>
            <p:ph idx="1"/>
          </p:nvPr>
        </p:nvSpPr>
        <p:spPr>
          <a:xfrm>
            <a:off x="838200" y="1751734"/>
            <a:ext cx="6963137" cy="4425229"/>
          </a:xfrm>
        </p:spPr>
        <p:txBody>
          <a:bodyPr/>
          <a:lstStyle/>
          <a:p>
            <a:r>
              <a:rPr lang="en-US" sz="2400" dirty="0">
                <a:latin typeface="Times New Roman" panose="02020603050405020304" pitchFamily="18" charset="0"/>
                <a:cs typeface="Times New Roman" panose="02020603050405020304" pitchFamily="18" charset="0"/>
              </a:rPr>
              <a:t>All missing values, duplicates, and irrelevant records were removed to ensure clean data.</a:t>
            </a:r>
          </a:p>
          <a:p>
            <a:r>
              <a:rPr lang="en-US" sz="2400" dirty="0">
                <a:latin typeface="Times New Roman" panose="02020603050405020304" pitchFamily="18" charset="0"/>
                <a:cs typeface="Times New Roman" panose="02020603050405020304" pitchFamily="18" charset="0"/>
              </a:rPr>
              <a:t>Categorical features (like weather, road type, lighting) were converted into numerical form using encoding techniques.</a:t>
            </a:r>
          </a:p>
          <a:p>
            <a:r>
              <a:rPr lang="en-US" sz="2400" dirty="0">
                <a:latin typeface="Times New Roman" panose="02020603050405020304" pitchFamily="18" charset="0"/>
                <a:cs typeface="Times New Roman" panose="02020603050405020304" pitchFamily="18" charset="0"/>
              </a:rPr>
              <a:t>Numerical features were normalized so the model can learn efficiently.</a:t>
            </a:r>
          </a:p>
          <a:p>
            <a:r>
              <a:rPr lang="en-US" sz="2400" dirty="0">
                <a:latin typeface="Times New Roman" panose="02020603050405020304" pitchFamily="18" charset="0"/>
                <a:cs typeface="Times New Roman" panose="02020603050405020304" pitchFamily="18" charset="0"/>
              </a:rPr>
              <a:t>The dataset was divided into training and testing sets for model evaluation.</a:t>
            </a:r>
          </a:p>
          <a:p>
            <a:r>
              <a:rPr lang="en-US" sz="2400" dirty="0" err="1">
                <a:latin typeface="Times New Roman" panose="02020603050405020304" pitchFamily="18" charset="0"/>
                <a:cs typeface="Times New Roman" panose="02020603050405020304" pitchFamily="18" charset="0"/>
              </a:rPr>
              <a:t>SMOTETomek</a:t>
            </a:r>
            <a:r>
              <a:rPr lang="en-US" sz="2400" dirty="0">
                <a:latin typeface="Times New Roman" panose="02020603050405020304" pitchFamily="18" charset="0"/>
                <a:cs typeface="Times New Roman" panose="02020603050405020304" pitchFamily="18" charset="0"/>
              </a:rPr>
              <a:t> was applied to balance the severity classes and improve prediction accuracy.</a:t>
            </a:r>
            <a:endParaRPr lang="en-IN" sz="2400" dirty="0">
              <a:latin typeface="Times New Roman" panose="02020603050405020304" pitchFamily="18" charset="0"/>
              <a:cs typeface="Times New Roman" panose="02020603050405020304" pitchFamily="18" charset="0"/>
            </a:endParaRPr>
          </a:p>
        </p:txBody>
      </p:sp>
      <p:sp>
        <p:nvSpPr>
          <p:cNvPr id="3" name="Content Placeholder 8">
            <a:extLst>
              <a:ext uri="{FF2B5EF4-FFF2-40B4-BE49-F238E27FC236}">
                <a16:creationId xmlns:a16="http://schemas.microsoft.com/office/drawing/2014/main" id="{0BAA4F36-AB00-F2C4-B47F-6381355DE604}"/>
              </a:ext>
            </a:extLst>
          </p:cNvPr>
          <p:cNvSpPr txBox="1">
            <a:spLocks/>
          </p:cNvSpPr>
          <p:nvPr/>
        </p:nvSpPr>
        <p:spPr>
          <a:xfrm>
            <a:off x="5549153" y="4240305"/>
            <a:ext cx="5793343" cy="19366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b="1" u="sng" dirty="0">
              <a:latin typeface="Times New Roman" panose="02020603050405020304" pitchFamily="18" charset="0"/>
              <a:cs typeface="Times New Roman" panose="02020603050405020304" pitchFamily="18" charset="0"/>
            </a:endParaRPr>
          </a:p>
        </p:txBody>
      </p:sp>
      <p:pic>
        <p:nvPicPr>
          <p:cNvPr id="11" name="Content Placeholder 10" descr="A group of different colored bars">
            <a:extLst>
              <a:ext uri="{FF2B5EF4-FFF2-40B4-BE49-F238E27FC236}">
                <a16:creationId xmlns:a16="http://schemas.microsoft.com/office/drawing/2014/main" id="{73C341FE-E4CF-58BF-D27E-B6030207D5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58992" y="1751733"/>
            <a:ext cx="4038773" cy="3792540"/>
          </a:xfrm>
          <a:prstGeom prst="rect">
            <a:avLst/>
          </a:prstGeom>
        </p:spPr>
      </p:pic>
    </p:spTree>
    <p:extLst>
      <p:ext uri="{BB962C8B-B14F-4D97-AF65-F5344CB8AC3E}">
        <p14:creationId xmlns:p14="http://schemas.microsoft.com/office/powerpoint/2010/main" val="3195133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2459035" y="856600"/>
            <a:ext cx="7303801" cy="895134"/>
          </a:xfrm>
        </p:spPr>
        <p:txBody>
          <a:bodyPr>
            <a:noAutofit/>
          </a:bodyPr>
          <a:lstStyle/>
          <a:p>
            <a:pPr algn="ctr"/>
            <a:r>
              <a:rPr lang="en-US" sz="3600" b="1" dirty="0">
                <a:latin typeface="Times New Roman" panose="02020603050405020304" pitchFamily="18" charset="0"/>
                <a:cs typeface="Times New Roman" panose="02020603050405020304" pitchFamily="18" charset="0"/>
              </a:rPr>
              <a:t>Feature Engineering </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853DCBD-31C4-4A24-B541-C91A2596D28E}" type="datetime1">
              <a:rPr lang="en-IN" smtClean="0">
                <a:latin typeface="Times New Roman" panose="02020603050405020304" pitchFamily="18" charset="0"/>
                <a:cs typeface="Times New Roman" panose="02020603050405020304" pitchFamily="18" charset="0"/>
              </a:rPr>
              <a:t>10-02-2026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15</a:t>
            </a:fld>
            <a:endParaRPr lang="en-US">
              <a:latin typeface="Times New Roman" panose="020206030504050203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51684795-A4CF-DF71-0012-61ADFB2888BD}"/>
              </a:ext>
            </a:extLst>
          </p:cNvPr>
          <p:cNvSpPr>
            <a:spLocks noGrp="1"/>
          </p:cNvSpPr>
          <p:nvPr>
            <p:ph idx="1"/>
          </p:nvPr>
        </p:nvSpPr>
        <p:spPr/>
        <p:txBody>
          <a:bodyPr>
            <a:normAutofit lnSpcReduction="10000"/>
          </a:bodyPr>
          <a:lstStyle/>
          <a:p>
            <a:r>
              <a:rPr lang="en-US" dirty="0"/>
              <a:t>Converted all text-based and categorical values (like weather, road type, lighting) into numbers for model processing.</a:t>
            </a:r>
          </a:p>
          <a:p>
            <a:r>
              <a:rPr lang="en-US" dirty="0"/>
              <a:t>Removed unnecessary columns and repeated information to keep only useful data.</a:t>
            </a:r>
          </a:p>
          <a:p>
            <a:r>
              <a:rPr lang="en-US" dirty="0"/>
              <a:t>Standardized numerical features so they are in the same range for better learning.</a:t>
            </a:r>
          </a:p>
          <a:p>
            <a:r>
              <a:rPr lang="en-US" dirty="0"/>
              <a:t>Extracted time-based features such as hour, day, and month from the accident timestamp.</a:t>
            </a:r>
          </a:p>
          <a:p>
            <a:r>
              <a:rPr lang="en-US" dirty="0"/>
              <a:t>Identified the most important features using SHAP and selected them for training.</a:t>
            </a:r>
          </a:p>
          <a:p>
            <a:pPr marL="0" indent="0">
              <a:buNone/>
            </a:pPr>
            <a:endParaRPr lang="en-IN" dirty="0"/>
          </a:p>
        </p:txBody>
      </p:sp>
      <p:sp>
        <p:nvSpPr>
          <p:cNvPr id="3" name="Content Placeholder 8">
            <a:extLst>
              <a:ext uri="{FF2B5EF4-FFF2-40B4-BE49-F238E27FC236}">
                <a16:creationId xmlns:a16="http://schemas.microsoft.com/office/drawing/2014/main" id="{0BAA4F36-AB00-F2C4-B47F-6381355DE604}"/>
              </a:ext>
            </a:extLst>
          </p:cNvPr>
          <p:cNvSpPr txBox="1">
            <a:spLocks/>
          </p:cNvSpPr>
          <p:nvPr/>
        </p:nvSpPr>
        <p:spPr>
          <a:xfrm>
            <a:off x="5549153" y="4240305"/>
            <a:ext cx="5793343" cy="19366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96576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368DE36-5B3B-46D4-A793-8AF9D394B1E7}" type="datetime1">
              <a:rPr lang="en-IN" smtClean="0"/>
              <a:t>10-02-2026</a:t>
            </a:fld>
            <a:endParaRPr lang="en-IN"/>
          </a:p>
        </p:txBody>
      </p:sp>
      <p:sp>
        <p:nvSpPr>
          <p:cNvPr id="5" name="Footer Placeholder 4"/>
          <p:cNvSpPr>
            <a:spLocks noGrp="1"/>
          </p:cNvSpPr>
          <p:nvPr>
            <p:ph type="ftr" sz="quarter" idx="11"/>
          </p:nvPr>
        </p:nvSpPr>
        <p:spPr/>
        <p:txBody>
          <a:bodyPr/>
          <a:lstStyle/>
          <a:p>
            <a:r>
              <a:rPr lang="en-US" dirty="0"/>
              <a:t>Review No. 1         Batch No. AG2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16</a:t>
            </a:fld>
            <a:endParaRPr lang="en-IN"/>
          </a:p>
        </p:txBody>
      </p:sp>
      <p:pic>
        <p:nvPicPr>
          <p:cNvPr id="8" name="Picture 7" descr="A screenshot of a graph">
            <a:extLst>
              <a:ext uri="{FF2B5EF4-FFF2-40B4-BE49-F238E27FC236}">
                <a16:creationId xmlns:a16="http://schemas.microsoft.com/office/drawing/2014/main" id="{C2537EE2-9187-A18E-5985-A084F88E08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574" y="909847"/>
            <a:ext cx="10903226" cy="4505723"/>
          </a:xfrm>
          <a:prstGeom prst="rect">
            <a:avLst/>
          </a:prstGeom>
        </p:spPr>
      </p:pic>
    </p:spTree>
    <p:extLst>
      <p:ext uri="{BB962C8B-B14F-4D97-AF65-F5344CB8AC3E}">
        <p14:creationId xmlns:p14="http://schemas.microsoft.com/office/powerpoint/2010/main" val="4766205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C502A-C64F-813B-0896-7D3FDA1E1EAB}"/>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5814B89F-D8CE-44E4-304C-2AD5C10D32A1}"/>
              </a:ext>
            </a:extLst>
          </p:cNvPr>
          <p:cNvSpPr>
            <a:spLocks noGrp="1"/>
          </p:cNvSpPr>
          <p:nvPr>
            <p:ph type="dt" sz="half" idx="10"/>
          </p:nvPr>
        </p:nvSpPr>
        <p:spPr/>
        <p:txBody>
          <a:bodyPr/>
          <a:lstStyle/>
          <a:p>
            <a:fld id="{2853DCBD-31C4-4A24-B541-C91A2596D28E}" type="datetime1">
              <a:rPr lang="en-IN" smtClean="0">
                <a:latin typeface="Times New Roman" panose="02020603050405020304" pitchFamily="18" charset="0"/>
                <a:cs typeface="Times New Roman" panose="02020603050405020304" pitchFamily="18" charset="0"/>
              </a:rPr>
              <a:t>10-02-2026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758E4DCA-0806-5896-52DF-914992591CB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7590C1A4-A14F-D0DA-A1D2-B302C7FEFAF6}"/>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17</a:t>
            </a:fld>
            <a:endParaRPr lang="en-US">
              <a:latin typeface="Times New Roman" panose="02020603050405020304" pitchFamily="18" charset="0"/>
              <a:cs typeface="Times New Roman" panose="02020603050405020304" pitchFamily="18" charset="0"/>
            </a:endParaRPr>
          </a:p>
        </p:txBody>
      </p:sp>
      <p:sp>
        <p:nvSpPr>
          <p:cNvPr id="3" name="Content Placeholder 8">
            <a:extLst>
              <a:ext uri="{FF2B5EF4-FFF2-40B4-BE49-F238E27FC236}">
                <a16:creationId xmlns:a16="http://schemas.microsoft.com/office/drawing/2014/main" id="{6DF1E606-C9D4-4EC4-AEB2-A26223948C23}"/>
              </a:ext>
            </a:extLst>
          </p:cNvPr>
          <p:cNvSpPr txBox="1">
            <a:spLocks/>
          </p:cNvSpPr>
          <p:nvPr/>
        </p:nvSpPr>
        <p:spPr>
          <a:xfrm>
            <a:off x="5549153" y="4240305"/>
            <a:ext cx="5793343" cy="19366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b="1" u="sng"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75E568D9-B7C7-3D91-DF0A-515B6732FE11}"/>
              </a:ext>
            </a:extLst>
          </p:cNvPr>
          <p:cNvSpPr txBox="1"/>
          <p:nvPr/>
        </p:nvSpPr>
        <p:spPr>
          <a:xfrm>
            <a:off x="424069" y="681040"/>
            <a:ext cx="10968067" cy="54476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Times New Roman"/>
              </a:rPr>
              <a:t>Model Architecture (CNN–</a:t>
            </a:r>
            <a:r>
              <a:rPr lang="en-US" sz="2400" b="1" dirty="0" err="1">
                <a:latin typeface="Times New Roman"/>
                <a:cs typeface="Times New Roman"/>
              </a:rPr>
              <a:t>BiLSTM</a:t>
            </a:r>
            <a:r>
              <a:rPr lang="en-US" sz="2400" b="1" dirty="0">
                <a:latin typeface="Times New Roman"/>
                <a:cs typeface="Times New Roman"/>
              </a:rPr>
              <a:t>–Attention):</a:t>
            </a:r>
          </a:p>
          <a:p>
            <a:r>
              <a:rPr lang="en-US" sz="2400" dirty="0"/>
              <a:t>Proposed CNN–</a:t>
            </a:r>
            <a:r>
              <a:rPr lang="en-US" sz="2400" dirty="0" err="1"/>
              <a:t>BiLSTM</a:t>
            </a:r>
            <a:r>
              <a:rPr lang="en-US" sz="2400" dirty="0"/>
              <a:t>–Attention Model</a:t>
            </a:r>
            <a:endParaRPr lang="en-US" sz="2400" dirty="0">
              <a:ea typeface="Calibri"/>
              <a:cs typeface="Calibri"/>
            </a:endParaRPr>
          </a:p>
          <a:p>
            <a:pPr marL="228600" indent="-228600">
              <a:buFont typeface=""/>
              <a:buChar char="•"/>
            </a:pPr>
            <a:r>
              <a:rPr lang="en-US" sz="2400" dirty="0"/>
              <a:t>The proposed model integrates Convolutional Neural Network (CNN), Bidirectional Long Short-Term Memory (</a:t>
            </a:r>
            <a:r>
              <a:rPr lang="en-US" sz="2400" dirty="0" err="1"/>
              <a:t>BiLSTM</a:t>
            </a:r>
            <a:r>
              <a:rPr lang="en-US" sz="2400" dirty="0"/>
              <a:t>), and Attention Mechanism.</a:t>
            </a:r>
            <a:endParaRPr lang="en-US" sz="2400" dirty="0">
              <a:ea typeface="Calibri"/>
              <a:cs typeface="Calibri"/>
            </a:endParaRPr>
          </a:p>
          <a:p>
            <a:pPr marL="228600" indent="-228600">
              <a:buFont typeface=""/>
              <a:buChar char="•"/>
            </a:pPr>
            <a:r>
              <a:rPr lang="en-US" sz="2400" dirty="0"/>
              <a:t>Each component plays a specific role in feature extraction and sequence learning:</a:t>
            </a:r>
            <a:endParaRPr lang="en-US" sz="2400" dirty="0">
              <a:ea typeface="Calibri"/>
              <a:cs typeface="Calibri"/>
            </a:endParaRPr>
          </a:p>
          <a:p>
            <a:pPr marL="228600" indent="-228600">
              <a:buFont typeface=""/>
              <a:buChar char="•"/>
            </a:pPr>
            <a:endParaRPr lang="en-US" sz="2400" dirty="0"/>
          </a:p>
          <a:p>
            <a:r>
              <a:rPr lang="en-US" b="1" dirty="0"/>
              <a:t>1️⃣ </a:t>
            </a:r>
            <a:r>
              <a:rPr lang="en-US" sz="2400" b="1" dirty="0"/>
              <a:t>CNN Layer – Spatial Feature Extraction</a:t>
            </a:r>
            <a:endParaRPr lang="en-US" sz="2400" b="1" dirty="0">
              <a:ea typeface="Calibri"/>
              <a:cs typeface="Calibri"/>
            </a:endParaRPr>
          </a:p>
          <a:p>
            <a:pPr marL="228600" indent="-228600">
              <a:buFont typeface=""/>
              <a:buChar char="•"/>
            </a:pPr>
            <a:r>
              <a:rPr lang="en-US" sz="2000" dirty="0"/>
              <a:t>Learns spatial relationships among features such as weather, road type, and lighting.</a:t>
            </a:r>
            <a:endParaRPr lang="en-US" sz="2000" dirty="0">
              <a:ea typeface="Calibri"/>
              <a:cs typeface="Calibri"/>
            </a:endParaRPr>
          </a:p>
          <a:p>
            <a:pPr marL="228600" indent="-228600">
              <a:buFont typeface=""/>
              <a:buChar char="•"/>
            </a:pPr>
            <a:r>
              <a:rPr lang="en-US" sz="2000" dirty="0"/>
              <a:t>Extracts local patterns and reduces noise through convolutional filters.</a:t>
            </a:r>
            <a:endParaRPr lang="en-US" sz="2000" dirty="0">
              <a:ea typeface="Calibri"/>
              <a:cs typeface="Calibri"/>
            </a:endParaRPr>
          </a:p>
          <a:p>
            <a:pPr marL="228600" indent="-228600">
              <a:buFont typeface=""/>
              <a:buChar char="•"/>
            </a:pPr>
            <a:r>
              <a:rPr lang="en-US" sz="2000" dirty="0"/>
              <a:t>Outputs feature maps that represent spatial dependencies.</a:t>
            </a:r>
            <a:endParaRPr lang="en-US" sz="2400" dirty="0"/>
          </a:p>
          <a:p>
            <a:r>
              <a:rPr lang="en-US" b="1" dirty="0"/>
              <a:t>2️⃣ </a:t>
            </a:r>
            <a:r>
              <a:rPr lang="en-US" sz="2400" b="1" dirty="0" err="1"/>
              <a:t>BiLSTM</a:t>
            </a:r>
            <a:r>
              <a:rPr lang="en-US" sz="2400" b="1" dirty="0"/>
              <a:t> Layer – Temporal Dependency Learning</a:t>
            </a:r>
            <a:endParaRPr lang="en-US" sz="2400" b="1" dirty="0">
              <a:ea typeface="Calibri"/>
              <a:cs typeface="Calibri"/>
            </a:endParaRPr>
          </a:p>
          <a:p>
            <a:pPr marL="228600" indent="-228600">
              <a:buFont typeface=""/>
              <a:buChar char="•"/>
            </a:pPr>
            <a:r>
              <a:rPr lang="en-US" sz="2000" dirty="0"/>
              <a:t>Processes sequential data (e.g., time, date, season) in both forward and backward directions.</a:t>
            </a:r>
            <a:endParaRPr lang="en-US" sz="2000" dirty="0">
              <a:ea typeface="Calibri"/>
              <a:cs typeface="Calibri"/>
            </a:endParaRPr>
          </a:p>
          <a:p>
            <a:pPr marL="228600" indent="-228600">
              <a:buFont typeface=""/>
              <a:buChar char="•"/>
            </a:pPr>
            <a:r>
              <a:rPr lang="en-US" sz="2000" dirty="0"/>
              <a:t>Captures long-term temporal relationships and context in accident sequences.</a:t>
            </a:r>
            <a:endParaRPr lang="en-US" sz="2000" dirty="0">
              <a:ea typeface="Calibri"/>
              <a:cs typeface="Calibri"/>
            </a:endParaRPr>
          </a:p>
          <a:p>
            <a:pPr marL="228600" indent="-228600">
              <a:buFont typeface=""/>
              <a:buChar char="•"/>
            </a:pPr>
            <a:r>
              <a:rPr lang="en-US" sz="2000" dirty="0"/>
              <a:t>Helps understand when and how accident risks vary with time.</a:t>
            </a:r>
            <a:endParaRPr lang="en-US" sz="2000" dirty="0">
              <a:ea typeface="Calibri"/>
              <a:cs typeface="Calibri"/>
            </a:endParaRPr>
          </a:p>
          <a:p>
            <a:endParaRPr lang="en-US" i="1" dirty="0">
              <a:ea typeface="Calibri"/>
              <a:cs typeface="Calibri"/>
            </a:endParaRPr>
          </a:p>
          <a:p>
            <a:pPr algn="ctr"/>
            <a:endParaRPr lang="en-US" dirty="0">
              <a:ea typeface="Calibri"/>
              <a:cs typeface="Calibri"/>
            </a:endParaRPr>
          </a:p>
        </p:txBody>
      </p:sp>
    </p:spTree>
    <p:extLst>
      <p:ext uri="{BB962C8B-B14F-4D97-AF65-F5344CB8AC3E}">
        <p14:creationId xmlns:p14="http://schemas.microsoft.com/office/powerpoint/2010/main" val="33878795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368DE36-5B3B-46D4-A793-8AF9D394B1E7}" type="datetime1">
              <a:rPr lang="en-IN" smtClean="0"/>
              <a:t>10-02-2026</a:t>
            </a:fld>
            <a:endParaRPr lang="en-IN"/>
          </a:p>
        </p:txBody>
      </p:sp>
      <p:sp>
        <p:nvSpPr>
          <p:cNvPr id="5" name="Footer Placeholder 4"/>
          <p:cNvSpPr>
            <a:spLocks noGrp="1"/>
          </p:cNvSpPr>
          <p:nvPr>
            <p:ph type="ftr" sz="quarter" idx="11"/>
          </p:nvPr>
        </p:nvSpPr>
        <p:spPr/>
        <p:txBody>
          <a:bodyPr/>
          <a:lstStyle/>
          <a:p>
            <a:r>
              <a:rPr lang="en-US" dirty="0"/>
              <a:t>Review No. 1         Batch No. AG2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18</a:t>
            </a:fld>
            <a:endParaRPr lang="en-IN"/>
          </a:p>
        </p:txBody>
      </p:sp>
      <p:sp>
        <p:nvSpPr>
          <p:cNvPr id="2" name="TextBox 1">
            <a:extLst>
              <a:ext uri="{FF2B5EF4-FFF2-40B4-BE49-F238E27FC236}">
                <a16:creationId xmlns:a16="http://schemas.microsoft.com/office/drawing/2014/main" id="{CF8F177A-13F7-FD69-BE54-CC1C164EF9F3}"/>
              </a:ext>
            </a:extLst>
          </p:cNvPr>
          <p:cNvSpPr txBox="1"/>
          <p:nvPr/>
        </p:nvSpPr>
        <p:spPr>
          <a:xfrm>
            <a:off x="609601" y="1036320"/>
            <a:ext cx="10744200"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dirty="0">
              <a:ea typeface="Calibri"/>
              <a:cs typeface="Calibri"/>
            </a:endParaRPr>
          </a:p>
          <a:p>
            <a:r>
              <a:rPr lang="en-US" b="1" dirty="0"/>
              <a:t>3️⃣</a:t>
            </a:r>
            <a:r>
              <a:rPr lang="en-US" sz="2400" b="1" dirty="0"/>
              <a:t> </a:t>
            </a:r>
            <a:r>
              <a:rPr lang="en-US" sz="2400" b="1" dirty="0">
                <a:latin typeface="Times New Roman"/>
                <a:cs typeface="Times New Roman"/>
              </a:rPr>
              <a:t>Attention Mechanism – Focus on Key Features</a:t>
            </a:r>
            <a:endParaRPr lang="en-US" sz="2400" b="1" dirty="0">
              <a:latin typeface="Times New Roman"/>
              <a:ea typeface="Calibri"/>
              <a:cs typeface="Times New Roman"/>
            </a:endParaRPr>
          </a:p>
          <a:p>
            <a:pPr marL="228600" indent="-228600">
              <a:buFont typeface=""/>
              <a:buChar char="•"/>
            </a:pPr>
            <a:r>
              <a:rPr lang="en-US" sz="2400" dirty="0"/>
              <a:t>Assigns weights to important features learned from </a:t>
            </a:r>
            <a:r>
              <a:rPr lang="en-US" sz="2400" dirty="0" err="1"/>
              <a:t>BiLSTM</a:t>
            </a:r>
            <a:r>
              <a:rPr lang="en-US" sz="2400" dirty="0"/>
              <a:t> outputs.</a:t>
            </a:r>
            <a:endParaRPr lang="en-US" sz="2400" dirty="0">
              <a:ea typeface="Calibri"/>
              <a:cs typeface="Calibri"/>
            </a:endParaRPr>
          </a:p>
          <a:p>
            <a:pPr marL="228600" indent="-228600">
              <a:buFont typeface=""/>
              <a:buChar char="•"/>
            </a:pPr>
            <a:r>
              <a:rPr lang="en-US" sz="2400" dirty="0"/>
              <a:t>Allows the model to focus on critical information (like poor lighting or bad weather).</a:t>
            </a:r>
            <a:endParaRPr lang="en-US" sz="2400" dirty="0">
              <a:ea typeface="Calibri"/>
              <a:cs typeface="Calibri"/>
            </a:endParaRPr>
          </a:p>
          <a:p>
            <a:pPr marL="228600" indent="-228600">
              <a:buFont typeface=""/>
              <a:buChar char="•"/>
            </a:pPr>
            <a:r>
              <a:rPr lang="en-US" sz="2400" dirty="0"/>
              <a:t>Improves both accuracy and interpretability.</a:t>
            </a:r>
            <a:endParaRPr lang="en-US" sz="2400" dirty="0">
              <a:ea typeface="Calibri"/>
              <a:cs typeface="Calibri"/>
            </a:endParaRPr>
          </a:p>
          <a:p>
            <a:endParaRPr lang="en-US" sz="2400" dirty="0">
              <a:ea typeface="Calibri"/>
              <a:cs typeface="Calibri"/>
            </a:endParaRPr>
          </a:p>
          <a:p>
            <a:r>
              <a:rPr lang="en-US" b="1" dirty="0"/>
              <a:t>4️⃣ </a:t>
            </a:r>
            <a:r>
              <a:rPr lang="en-US" sz="2400" b="1" dirty="0">
                <a:latin typeface="Times New Roman"/>
                <a:cs typeface="Times New Roman"/>
              </a:rPr>
              <a:t>Output Layer</a:t>
            </a:r>
            <a:endParaRPr lang="en-US" b="1" dirty="0">
              <a:latin typeface="Calibri"/>
              <a:ea typeface="Calibri"/>
              <a:cs typeface="Calibri"/>
            </a:endParaRPr>
          </a:p>
          <a:p>
            <a:pPr marL="228600" indent="-228600">
              <a:buFont typeface=""/>
              <a:buChar char="•"/>
            </a:pPr>
            <a:r>
              <a:rPr lang="en-US" sz="2400" dirty="0"/>
              <a:t>Produces the accident severity prediction (e.g., minor, serious, fatal).</a:t>
            </a:r>
            <a:endParaRPr lang="en-US" sz="2400" dirty="0">
              <a:ea typeface="Calibri"/>
              <a:cs typeface="Calibri"/>
            </a:endParaRPr>
          </a:p>
          <a:p>
            <a:pPr marL="228600" indent="-228600">
              <a:buFont typeface=""/>
              <a:buChar char="•"/>
            </a:pPr>
            <a:r>
              <a:rPr lang="en-US" sz="2400" dirty="0"/>
              <a:t>Uses a </a:t>
            </a:r>
            <a:r>
              <a:rPr lang="en-US" sz="2400" dirty="0" err="1"/>
              <a:t>softmax</a:t>
            </a:r>
            <a:r>
              <a:rPr lang="en-US" sz="2400" dirty="0"/>
              <a:t> activation for classification.</a:t>
            </a:r>
            <a:endParaRPr lang="en-US" sz="2400"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11289704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marL="0" indent="0">
              <a:buNone/>
            </a:pPr>
            <a:r>
              <a:rPr lang="en-IN" b="1" u="sng" dirty="0">
                <a:latin typeface="Times New Roman" panose="02020603050405020304" pitchFamily="18" charset="0"/>
                <a:cs typeface="Times New Roman" panose="02020603050405020304" pitchFamily="18" charset="0"/>
              </a:rPr>
              <a:t>Software Requirements : </a:t>
            </a:r>
          </a:p>
          <a:p>
            <a:r>
              <a:rPr lang="en-IN" dirty="0">
                <a:latin typeface="Times New Roman" panose="02020603050405020304" pitchFamily="18" charset="0"/>
                <a:cs typeface="Times New Roman" panose="02020603050405020304" pitchFamily="18" charset="0"/>
              </a:rPr>
              <a:t>Browser : Any latest browser like Chrome</a:t>
            </a:r>
          </a:p>
          <a:p>
            <a:r>
              <a:rPr lang="en-IN" dirty="0">
                <a:latin typeface="Times New Roman" panose="02020603050405020304" pitchFamily="18" charset="0"/>
                <a:cs typeface="Times New Roman" panose="02020603050405020304" pitchFamily="18" charset="0"/>
              </a:rPr>
              <a:t>Operating System : Windows 11</a:t>
            </a:r>
          </a:p>
          <a:p>
            <a:r>
              <a:rPr lang="en-IN" dirty="0">
                <a:latin typeface="Times New Roman" panose="02020603050405020304" pitchFamily="18" charset="0"/>
                <a:cs typeface="Times New Roman" panose="02020603050405020304" pitchFamily="18" charset="0"/>
              </a:rPr>
              <a:t>Python (</a:t>
            </a:r>
            <a:r>
              <a:rPr lang="en-IN" dirty="0" err="1">
                <a:latin typeface="Times New Roman" panose="02020603050405020304" pitchFamily="18" charset="0"/>
                <a:cs typeface="Times New Roman" panose="02020603050405020304" pitchFamily="18" charset="0"/>
              </a:rPr>
              <a:t>Colab</a:t>
            </a:r>
            <a:r>
              <a:rPr lang="en-IN" dirty="0">
                <a:latin typeface="Times New Roman" panose="02020603050405020304" pitchFamily="18" charset="0"/>
                <a:cs typeface="Times New Roman" panose="02020603050405020304" pitchFamily="18" charset="0"/>
              </a:rPr>
              <a:t>), Flask (</a:t>
            </a:r>
            <a:r>
              <a:rPr lang="en-IN" dirty="0" err="1">
                <a:latin typeface="Times New Roman" panose="02020603050405020304" pitchFamily="18" charset="0"/>
                <a:cs typeface="Times New Roman" panose="02020603050405020304" pitchFamily="18" charset="0"/>
              </a:rPr>
              <a:t>Spyder</a:t>
            </a:r>
            <a:r>
              <a:rPr lang="en-IN" dirty="0">
                <a:latin typeface="Times New Roman" panose="02020603050405020304" pitchFamily="18" charset="0"/>
                <a:cs typeface="Times New Roman" panose="02020603050405020304" pitchFamily="18" charset="0"/>
              </a:rPr>
              <a:t>)</a:t>
            </a:r>
          </a:p>
          <a:p>
            <a:pPr marL="0" indent="0">
              <a:buNone/>
            </a:pPr>
            <a:r>
              <a:rPr lang="en-IN" b="1" u="sng" dirty="0">
                <a:latin typeface="Times New Roman" panose="02020603050405020304" pitchFamily="18" charset="0"/>
                <a:cs typeface="Times New Roman" panose="02020603050405020304" pitchFamily="18" charset="0"/>
              </a:rPr>
              <a:t>Hardware Requirements :</a:t>
            </a:r>
          </a:p>
          <a:p>
            <a:r>
              <a:rPr lang="en-IN" dirty="0">
                <a:latin typeface="Times New Roman" panose="02020603050405020304" pitchFamily="18" charset="0"/>
                <a:cs typeface="Times New Roman" panose="02020603050405020304" pitchFamily="18" charset="0"/>
              </a:rPr>
              <a:t>System Type :</a:t>
            </a:r>
            <a:r>
              <a:rPr lang="en-US" dirty="0">
                <a:latin typeface="Times New Roman" panose="02020603050405020304" pitchFamily="18" charset="0"/>
                <a:cs typeface="Times New Roman" panose="02020603050405020304" pitchFamily="18" charset="0"/>
              </a:rPr>
              <a:t>AMD Ryzen 7 5800HS with integrated Radeon Graphics, 3.20 GHz </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RAM : 12GB</a:t>
            </a: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DFF8997E-A334-4ED8-BB20-B13E1F2AFDB2}" type="datetime1">
              <a:rPr lang="en-IN" smtClean="0">
                <a:latin typeface="Times New Roman" panose="02020603050405020304" pitchFamily="18" charset="0"/>
                <a:cs typeface="Times New Roman" panose="02020603050405020304" pitchFamily="18" charset="0"/>
              </a:rPr>
              <a:t>10-02-2026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19</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55409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C776A-D6DC-D3CA-0704-83FD5E5AE19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F51F7FE-8265-96A6-EBD4-F9C9C752C75C}"/>
              </a:ext>
            </a:extLst>
          </p:cNvPr>
          <p:cNvSpPr>
            <a:spLocks noGrp="1"/>
          </p:cNvSpPr>
          <p:nvPr>
            <p:ph type="title"/>
          </p:nvPr>
        </p:nvSpPr>
        <p:spPr>
          <a:xfrm>
            <a:off x="838200" y="457200"/>
            <a:ext cx="10515600" cy="1233488"/>
          </a:xfrm>
        </p:spPr>
        <p:txBody>
          <a:bodyPr>
            <a:normAutofit/>
          </a:bodyPr>
          <a:lstStyle/>
          <a:p>
            <a:r>
              <a:rPr lang="en-US" sz="2800" b="1" u="sng" dirty="0">
                <a:latin typeface="Times New Roman" panose="02020603050405020304" pitchFamily="18" charset="0"/>
                <a:cs typeface="Times New Roman" panose="02020603050405020304" pitchFamily="18" charset="0"/>
              </a:rPr>
              <a:t>Results:</a:t>
            </a:r>
          </a:p>
        </p:txBody>
      </p:sp>
      <p:sp>
        <p:nvSpPr>
          <p:cNvPr id="2" name="Content Placeholder 1">
            <a:extLst>
              <a:ext uri="{FF2B5EF4-FFF2-40B4-BE49-F238E27FC236}">
                <a16:creationId xmlns:a16="http://schemas.microsoft.com/office/drawing/2014/main" id="{6C54080F-60E8-772E-B9BD-BCAC510614EA}"/>
              </a:ext>
            </a:extLst>
          </p:cNvPr>
          <p:cNvSpPr>
            <a:spLocks noGrp="1"/>
          </p:cNvSpPr>
          <p:nvPr>
            <p:ph idx="1"/>
          </p:nvPr>
        </p:nvSpPr>
        <p:spPr/>
        <p:txBody>
          <a:bodyPr>
            <a:normAutofit fontScale="92500"/>
          </a:bodyPr>
          <a:lstStyle/>
          <a:p>
            <a:r>
              <a:rPr lang="en-US" b="1" dirty="0"/>
              <a:t>Data Cleaning:</a:t>
            </a:r>
            <a:r>
              <a:rPr lang="en-US" dirty="0"/>
              <a:t> All missing values, duplicate entries, and inconsistent records from both UK and US datasets were removed to ensure reliability.</a:t>
            </a:r>
          </a:p>
          <a:p>
            <a:r>
              <a:rPr lang="en-US" b="1" dirty="0"/>
              <a:t>Feature Encoding:</a:t>
            </a:r>
            <a:r>
              <a:rPr lang="en-US" dirty="0"/>
              <a:t> Categorical attributes such as weather, road type, and lighting were converted into numerical values for model compatibility.</a:t>
            </a:r>
          </a:p>
          <a:p>
            <a:r>
              <a:rPr lang="en-US" b="1" dirty="0"/>
              <a:t>Normalization:</a:t>
            </a:r>
            <a:r>
              <a:rPr lang="en-US" dirty="0"/>
              <a:t> Numerical features were scaled to maintain consistency, and time-based features were extracted for temporal learning.</a:t>
            </a:r>
          </a:p>
          <a:p>
            <a:r>
              <a:rPr lang="en-US" b="1" dirty="0"/>
              <a:t>Balancing:</a:t>
            </a:r>
            <a:r>
              <a:rPr lang="en-US" dirty="0"/>
              <a:t> </a:t>
            </a:r>
            <a:r>
              <a:rPr lang="en-US" dirty="0" err="1"/>
              <a:t>SMOTETomek</a:t>
            </a:r>
            <a:r>
              <a:rPr lang="en-US" dirty="0"/>
              <a:t> was applied to correct class imbalance and improve prediction performance across severity levels.</a:t>
            </a:r>
          </a:p>
          <a:p>
            <a:r>
              <a:rPr lang="en-US" b="1" dirty="0"/>
              <a:t>Final Data Split:</a:t>
            </a:r>
            <a:r>
              <a:rPr lang="en-US" dirty="0"/>
              <a:t> After preprocessing, </a:t>
            </a:r>
            <a:r>
              <a:rPr lang="en-US" b="1" dirty="0"/>
              <a:t>80%</a:t>
            </a:r>
            <a:r>
              <a:rPr lang="en-US" dirty="0"/>
              <a:t> of the data was used for training and </a:t>
            </a:r>
            <a:r>
              <a:rPr lang="en-US" b="1" dirty="0"/>
              <a:t>20%</a:t>
            </a:r>
            <a:r>
              <a:rPr lang="en-US" dirty="0"/>
              <a:t> for testing to ensure fair evaluation of the model.</a:t>
            </a:r>
          </a:p>
          <a:p>
            <a:endParaRPr lang="en-IN"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0432813-F020-E519-FD97-649C3A63362D}"/>
              </a:ext>
            </a:extLst>
          </p:cNvPr>
          <p:cNvSpPr>
            <a:spLocks noGrp="1"/>
          </p:cNvSpPr>
          <p:nvPr>
            <p:ph type="dt" sz="half" idx="10"/>
          </p:nvPr>
        </p:nvSpPr>
        <p:spPr/>
        <p:txBody>
          <a:bodyPr/>
          <a:lstStyle/>
          <a:p>
            <a:fld id="{2853DCBD-31C4-4A24-B541-C91A2596D28E}" type="datetime1">
              <a:rPr lang="en-IN" smtClean="0">
                <a:latin typeface="Times New Roman" panose="02020603050405020304" pitchFamily="18" charset="0"/>
                <a:cs typeface="Times New Roman" panose="02020603050405020304" pitchFamily="18" charset="0"/>
              </a:rPr>
              <a:t>10-02-2026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4EF5E6FA-AC84-3019-F448-FC68FF5001A6}"/>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65966C74-12EC-80BA-5B9C-4A2049ED336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20</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50592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RESULTS &amp; ANALYSIS</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074DACDE-B1A1-4F19-828D-73D364D5EACF}" type="datetime1">
              <a:rPr lang="en-IN" smtClean="0">
                <a:latin typeface="Times New Roman" panose="02020603050405020304" pitchFamily="18" charset="0"/>
                <a:cs typeface="Times New Roman" panose="02020603050405020304" pitchFamily="18" charset="0"/>
              </a:rPr>
              <a:t>10-02-2026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21</a:t>
            </a:fld>
            <a:endParaRPr lang="en-US">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46CD5FB-E4AE-CEDC-257B-E4A196E216A3}"/>
              </a:ext>
            </a:extLst>
          </p:cNvPr>
          <p:cNvSpPr txBox="1">
            <a:spLocks noGrp="1"/>
          </p:cNvSpPr>
          <p:nvPr>
            <p:ph idx="1"/>
          </p:nvPr>
        </p:nvSpPr>
        <p:spPr>
          <a:xfrm>
            <a:off x="613458" y="1493134"/>
            <a:ext cx="6273479" cy="45735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gn="l" rtl="0"/>
            <a:r>
              <a:rPr lang="en-IN" sz="2400" dirty="0"/>
              <a:t>SHAP means Shapley Additive Explanations.</a:t>
            </a:r>
            <a:endParaRPr lang="en-IN" sz="2400" dirty="0">
              <a:ea typeface="Calibri"/>
              <a:cs typeface="Calibri"/>
            </a:endParaRPr>
          </a:p>
          <a:p>
            <a:pPr marL="228600" indent="-228600" algn="l" rtl="0"/>
            <a:r>
              <a:rPr lang="en-IN" sz="2400" dirty="0"/>
              <a:t>It helps to explain how the model makes decisions</a:t>
            </a:r>
            <a:endParaRPr lang="en-IN" sz="2400" dirty="0">
              <a:ea typeface="Calibri"/>
              <a:cs typeface="Calibri"/>
            </a:endParaRPr>
          </a:p>
          <a:p>
            <a:pPr marL="228600" indent="-228600" algn="l" rtl="0"/>
            <a:r>
              <a:rPr lang="en-IN" sz="2400" dirty="0"/>
              <a:t>Each feature’s importance is shown using bars.</a:t>
            </a:r>
            <a:endParaRPr lang="en-IN" sz="2400" dirty="0">
              <a:ea typeface="Calibri"/>
              <a:cs typeface="Calibri"/>
            </a:endParaRPr>
          </a:p>
          <a:p>
            <a:pPr marL="228600" indent="-228600" algn="l" rtl="0"/>
            <a:r>
              <a:rPr lang="en-IN" sz="2400" dirty="0"/>
              <a:t>Top important factors: Weather, Hour, Traffic Signal, Visibility, and Temperature.</a:t>
            </a:r>
            <a:endParaRPr lang="en-IN" sz="2400" dirty="0">
              <a:ea typeface="Calibri"/>
              <a:cs typeface="Calibri"/>
            </a:endParaRPr>
          </a:p>
          <a:p>
            <a:pPr marL="228600" indent="-228600" algn="l" rtl="0"/>
            <a:r>
              <a:rPr lang="en-IN" sz="2400" dirty="0"/>
              <a:t>These features affect how severe an accident can be.</a:t>
            </a:r>
            <a:endParaRPr lang="en-IN" sz="2400" dirty="0">
              <a:ea typeface="Calibri"/>
              <a:cs typeface="Calibri"/>
            </a:endParaRPr>
          </a:p>
          <a:p>
            <a:pPr marL="228600" indent="-228600" algn="l" rtl="0"/>
            <a:r>
              <a:rPr lang="en-IN" sz="2400" dirty="0"/>
              <a:t>SHAP makes the model clear, understandable, and trustworthy.</a:t>
            </a:r>
            <a:endParaRPr lang="en-IN" sz="2400" dirty="0">
              <a:ea typeface="Calibri"/>
              <a:cs typeface="Calibri"/>
            </a:endParaRPr>
          </a:p>
          <a:p>
            <a:pPr algn="ctr"/>
            <a:endParaRPr lang="en-US" dirty="0"/>
          </a:p>
        </p:txBody>
      </p:sp>
      <p:pic>
        <p:nvPicPr>
          <p:cNvPr id="12" name="Picture 11" descr="A graph with blue bars&#10;&#10;AI-generated content may be incorrect.">
            <a:extLst>
              <a:ext uri="{FF2B5EF4-FFF2-40B4-BE49-F238E27FC236}">
                <a16:creationId xmlns:a16="http://schemas.microsoft.com/office/drawing/2014/main" id="{4C488341-C37A-8B44-891C-C91CC39BA0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6937" y="1493134"/>
            <a:ext cx="5034023" cy="3391382"/>
          </a:xfrm>
          <a:prstGeom prst="rect">
            <a:avLst/>
          </a:prstGeom>
        </p:spPr>
      </p:pic>
    </p:spTree>
    <p:extLst>
      <p:ext uri="{BB962C8B-B14F-4D97-AF65-F5344CB8AC3E}">
        <p14:creationId xmlns:p14="http://schemas.microsoft.com/office/powerpoint/2010/main" val="17996908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252FA-2E32-81D0-2CA0-C9DC7A83EFAA}"/>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8AEC6C0D-B31F-D5FF-D810-D95D34F09DCD}"/>
              </a:ext>
            </a:extLst>
          </p:cNvPr>
          <p:cNvSpPr>
            <a:spLocks noGrp="1"/>
          </p:cNvSpPr>
          <p:nvPr>
            <p:ph type="dt" sz="half" idx="10"/>
          </p:nvPr>
        </p:nvSpPr>
        <p:spPr/>
        <p:txBody>
          <a:bodyPr/>
          <a:lstStyle/>
          <a:p>
            <a:fld id="{2853DCBD-31C4-4A24-B541-C91A2596D28E}" type="datetime1">
              <a:rPr lang="en-IN" smtClean="0">
                <a:latin typeface="Times New Roman" panose="02020603050405020304" pitchFamily="18" charset="0"/>
                <a:cs typeface="Times New Roman" panose="02020603050405020304" pitchFamily="18" charset="0"/>
              </a:rPr>
              <a:t>10-02-2026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25018DDC-8F1C-DE5E-E922-A7E987F8E199}"/>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1DF03F46-0500-4A00-F1BB-A73FB430BE06}"/>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22</a:t>
            </a:fld>
            <a:endParaRPr lang="en-US">
              <a:latin typeface="Times New Roman" panose="02020603050405020304" pitchFamily="18" charset="0"/>
              <a:cs typeface="Times New Roman" panose="02020603050405020304" pitchFamily="18" charset="0"/>
            </a:endParaRPr>
          </a:p>
        </p:txBody>
      </p:sp>
      <p:sp>
        <p:nvSpPr>
          <p:cNvPr id="13" name="Content Placeholder 12">
            <a:extLst>
              <a:ext uri="{FF2B5EF4-FFF2-40B4-BE49-F238E27FC236}">
                <a16:creationId xmlns:a16="http://schemas.microsoft.com/office/drawing/2014/main" id="{34A9DA96-E8EF-3C30-B229-8403C2273C91}"/>
              </a:ext>
            </a:extLst>
          </p:cNvPr>
          <p:cNvSpPr>
            <a:spLocks noGrp="1"/>
          </p:cNvSpPr>
          <p:nvPr>
            <p:ph idx="1"/>
          </p:nvPr>
        </p:nvSpPr>
        <p:spPr>
          <a:xfrm>
            <a:off x="838199" y="1539433"/>
            <a:ext cx="6014013" cy="4637530"/>
          </a:xfrm>
        </p:spPr>
        <p:txBody>
          <a:bodyPr>
            <a:normAutofit/>
          </a:bodyPr>
          <a:lstStyle/>
          <a:p>
            <a:pPr marL="0" indent="0">
              <a:buNone/>
            </a:pPr>
            <a:r>
              <a:rPr lang="en-US" dirty="0"/>
              <a:t>The confusion matrix shows that the model correctly predicted 1464 Slight accidents and 1432 Severe accidents. Only a small number of cases were misclassified, with 232 Slight cases predicted as Severe and 255 Severe cases predicted as Slight. Overall, the results indicate that the model accurately distinguishes between Slight and Severe accident categories with minimal errors.</a:t>
            </a:r>
            <a:endParaRPr lang="en-IN" dirty="0"/>
          </a:p>
        </p:txBody>
      </p:sp>
      <p:pic>
        <p:nvPicPr>
          <p:cNvPr id="15" name="Picture 14" descr="A diagram of a confusion matrix">
            <a:extLst>
              <a:ext uri="{FF2B5EF4-FFF2-40B4-BE49-F238E27FC236}">
                <a16:creationId xmlns:a16="http://schemas.microsoft.com/office/drawing/2014/main" id="{B17C168D-A3B1-CA00-0E65-F61E8016A4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60556" y="1348736"/>
            <a:ext cx="4293243" cy="4160528"/>
          </a:xfrm>
          <a:prstGeom prst="rect">
            <a:avLst/>
          </a:prstGeom>
        </p:spPr>
      </p:pic>
    </p:spTree>
    <p:extLst>
      <p:ext uri="{BB962C8B-B14F-4D97-AF65-F5344CB8AC3E}">
        <p14:creationId xmlns:p14="http://schemas.microsoft.com/office/powerpoint/2010/main" val="2235044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074DACDE-B1A1-4F19-828D-73D364D5EACF}" type="datetime1">
              <a:rPr lang="en-IN" smtClean="0">
                <a:latin typeface="Times New Roman" panose="02020603050405020304" pitchFamily="18" charset="0"/>
                <a:cs typeface="Times New Roman" panose="02020603050405020304" pitchFamily="18" charset="0"/>
              </a:rPr>
              <a:t>10-02-2026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23</a:t>
            </a:fld>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287D977-BB95-F3E6-969B-395B0E514649}"/>
              </a:ext>
            </a:extLst>
          </p:cNvPr>
          <p:cNvSpPr txBox="1"/>
          <p:nvPr/>
        </p:nvSpPr>
        <p:spPr>
          <a:xfrm>
            <a:off x="185196" y="740781"/>
            <a:ext cx="6979534" cy="54476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Times New Roman"/>
                <a:cs typeface="Times New Roman"/>
              </a:rPr>
              <a:t>Performance Comparison of Proposed Model</a:t>
            </a:r>
          </a:p>
          <a:p>
            <a:pPr marL="228600" indent="-228600">
              <a:buFont typeface=""/>
              <a:buChar char="•"/>
            </a:pPr>
            <a:r>
              <a:rPr lang="en-US" sz="2400" dirty="0"/>
              <a:t>The proposed CNN–</a:t>
            </a:r>
            <a:r>
              <a:rPr lang="en-US" sz="2400" dirty="0" err="1"/>
              <a:t>BiLSTM</a:t>
            </a:r>
            <a:r>
              <a:rPr lang="en-US" sz="2400" dirty="0"/>
              <a:t>–Attention model was tested on two datasets – UK and US traffic accident datasets.</a:t>
            </a:r>
            <a:endParaRPr lang="en-US" sz="2400" dirty="0">
              <a:ea typeface="Calibri"/>
              <a:cs typeface="Calibri"/>
            </a:endParaRPr>
          </a:p>
          <a:p>
            <a:pPr marL="228600" indent="-228600">
              <a:buFont typeface=""/>
              <a:buChar char="•"/>
            </a:pPr>
            <a:r>
              <a:rPr lang="en-US" sz="2400" dirty="0"/>
              <a:t>Achieved accuracy of 87% (US) and 86% (UK), outperforming traditional models like Logistic Regression.</a:t>
            </a:r>
            <a:endParaRPr lang="en-US" sz="2400" dirty="0">
              <a:ea typeface="Calibri"/>
              <a:cs typeface="Calibri"/>
            </a:endParaRPr>
          </a:p>
          <a:p>
            <a:pPr marL="228600" indent="-228600">
              <a:buFont typeface=""/>
              <a:buChar char="•"/>
            </a:pPr>
            <a:r>
              <a:rPr lang="en-US" sz="2400" dirty="0"/>
              <a:t>US dataset showed slightly better results due to higher data diversity and sample size.</a:t>
            </a:r>
            <a:endParaRPr lang="en-US" sz="2400" dirty="0">
              <a:ea typeface="Calibri"/>
              <a:cs typeface="Calibri"/>
            </a:endParaRPr>
          </a:p>
          <a:p>
            <a:pPr marL="228600" indent="-228600">
              <a:buFont typeface=""/>
              <a:buChar char="•"/>
            </a:pPr>
            <a:r>
              <a:rPr lang="en-US" sz="2400" dirty="0"/>
              <a:t>MAE values (0.137 for US, 0.179 for UK) confirm </a:t>
            </a:r>
          </a:p>
          <a:p>
            <a:r>
              <a:rPr lang="en-US" sz="2400" dirty="0"/>
              <a:t>    low prediction error and stable learning.</a:t>
            </a:r>
            <a:endParaRPr lang="en-US" sz="2400" dirty="0">
              <a:ea typeface="Calibri"/>
              <a:cs typeface="Calibri"/>
            </a:endParaRPr>
          </a:p>
          <a:p>
            <a:pPr marL="228600" indent="-228600">
              <a:buFont typeface=""/>
              <a:buChar char="•"/>
            </a:pPr>
            <a:r>
              <a:rPr lang="en-US" sz="2400" dirty="0"/>
              <a:t>Precision, Recall, and F1-scores are balanced across both datasets, showing consistent performance.</a:t>
            </a:r>
            <a:endParaRPr lang="en-US" sz="2400" dirty="0">
              <a:ea typeface="Calibri"/>
              <a:cs typeface="Calibri"/>
            </a:endParaRPr>
          </a:p>
          <a:p>
            <a:pPr marL="228600" indent="-228600">
              <a:buFont typeface=""/>
              <a:buChar char="•"/>
            </a:pPr>
            <a:endParaRPr lang="en-US" dirty="0"/>
          </a:p>
          <a:p>
            <a:pPr algn="ctr"/>
            <a:endParaRPr lang="en-US" dirty="0"/>
          </a:p>
        </p:txBody>
      </p:sp>
      <p:sp>
        <p:nvSpPr>
          <p:cNvPr id="4" name="AutoShape 2" descr="Generated image">
            <a:extLst>
              <a:ext uri="{FF2B5EF4-FFF2-40B4-BE49-F238E27FC236}">
                <a16:creationId xmlns:a16="http://schemas.microsoft.com/office/drawing/2014/main" id="{155A5A42-1015-4189-5D8E-4F5E4830E0D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74C44E1F-66DF-168A-C2B4-C9A11C68BCB4}"/>
              </a:ext>
            </a:extLst>
          </p:cNvPr>
          <p:cNvPicPr>
            <a:picLocks noChangeAspect="1"/>
          </p:cNvPicPr>
          <p:nvPr/>
        </p:nvPicPr>
        <p:blipFill>
          <a:blip r:embed="rId2"/>
          <a:stretch>
            <a:fillRect/>
          </a:stretch>
        </p:blipFill>
        <p:spPr>
          <a:xfrm>
            <a:off x="6897547" y="799619"/>
            <a:ext cx="5109257" cy="3813858"/>
          </a:xfrm>
          <a:prstGeom prst="rect">
            <a:avLst/>
          </a:prstGeom>
        </p:spPr>
      </p:pic>
    </p:spTree>
    <p:extLst>
      <p:ext uri="{BB962C8B-B14F-4D97-AF65-F5344CB8AC3E}">
        <p14:creationId xmlns:p14="http://schemas.microsoft.com/office/powerpoint/2010/main" val="1350783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074DACDE-B1A1-4F19-828D-73D364D5EACF}" type="datetime1">
              <a:rPr lang="en-IN" smtClean="0">
                <a:latin typeface="Times New Roman" panose="02020603050405020304" pitchFamily="18" charset="0"/>
                <a:cs typeface="Times New Roman" panose="02020603050405020304" pitchFamily="18" charset="0"/>
              </a:rPr>
              <a:t>10-02-2026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24</a:t>
            </a:fld>
            <a:endParaRPr lang="en-US" dirty="0">
              <a:latin typeface="Times New Roman" panose="02020603050405020304" pitchFamily="18" charset="0"/>
              <a:cs typeface="Times New Roman" panose="02020603050405020304" pitchFamily="18" charset="0"/>
            </a:endParaRPr>
          </a:p>
        </p:txBody>
      </p:sp>
      <p:pic>
        <p:nvPicPr>
          <p:cNvPr id="14" name="Content Placeholder 13" descr="A graph with orange and blue lines">
            <a:extLst>
              <a:ext uri="{FF2B5EF4-FFF2-40B4-BE49-F238E27FC236}">
                <a16:creationId xmlns:a16="http://schemas.microsoft.com/office/drawing/2014/main" id="{D0017D20-F79E-536A-4B52-0BD5103748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0390" y="821803"/>
            <a:ext cx="5613721" cy="5328335"/>
          </a:xfrm>
        </p:spPr>
      </p:pic>
      <p:pic>
        <p:nvPicPr>
          <p:cNvPr id="16" name="Picture 15" descr="A graph of accident by day">
            <a:extLst>
              <a:ext uri="{FF2B5EF4-FFF2-40B4-BE49-F238E27FC236}">
                <a16:creationId xmlns:a16="http://schemas.microsoft.com/office/drawing/2014/main" id="{165B8128-08CC-2CD1-627C-9EE6F86157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4110" y="741420"/>
            <a:ext cx="6065135" cy="5375159"/>
          </a:xfrm>
          <a:prstGeom prst="rect">
            <a:avLst/>
          </a:prstGeom>
        </p:spPr>
      </p:pic>
    </p:spTree>
    <p:extLst>
      <p:ext uri="{BB962C8B-B14F-4D97-AF65-F5344CB8AC3E}">
        <p14:creationId xmlns:p14="http://schemas.microsoft.com/office/powerpoint/2010/main" val="29100798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228A65-9A1B-4D0A-A1AB-55A1392F5791}"/>
              </a:ext>
            </a:extLst>
          </p:cNvPr>
          <p:cNvSpPr>
            <a:spLocks noGrp="1"/>
          </p:cNvSpPr>
          <p:nvPr>
            <p:ph type="dt" sz="half" idx="10"/>
          </p:nvPr>
        </p:nvSpPr>
        <p:spPr/>
        <p:txBody>
          <a:bodyPr/>
          <a:lstStyle/>
          <a:p>
            <a:fld id="{7368DE36-5B3B-46D4-A793-8AF9D394B1E7}" type="datetime1">
              <a:rPr lang="en-IN" smtClean="0"/>
              <a:t>10-02-2026</a:t>
            </a:fld>
            <a:endParaRPr lang="en-IN"/>
          </a:p>
        </p:txBody>
      </p:sp>
      <p:sp>
        <p:nvSpPr>
          <p:cNvPr id="5" name="Footer Placeholder 4">
            <a:extLst>
              <a:ext uri="{FF2B5EF4-FFF2-40B4-BE49-F238E27FC236}">
                <a16:creationId xmlns:a16="http://schemas.microsoft.com/office/drawing/2014/main" id="{27F5CE8E-2281-5D8C-46B5-06DB944E36B0}"/>
              </a:ext>
            </a:extLst>
          </p:cNvPr>
          <p:cNvSpPr>
            <a:spLocks noGrp="1"/>
          </p:cNvSpPr>
          <p:nvPr>
            <p:ph type="ftr" sz="quarter" idx="11"/>
          </p:nvPr>
        </p:nvSpPr>
        <p:spPr/>
        <p:txBody>
          <a:bodyPr/>
          <a:lstStyle/>
          <a:p>
            <a:r>
              <a:rPr lang="en-US"/>
              <a:t>Review No. 1         Batch No. BG1           Department of CSE</a:t>
            </a:r>
            <a:endParaRPr lang="en-IN"/>
          </a:p>
        </p:txBody>
      </p:sp>
      <p:sp>
        <p:nvSpPr>
          <p:cNvPr id="6" name="Slide Number Placeholder 5">
            <a:extLst>
              <a:ext uri="{FF2B5EF4-FFF2-40B4-BE49-F238E27FC236}">
                <a16:creationId xmlns:a16="http://schemas.microsoft.com/office/drawing/2014/main" id="{CC0BECE6-253F-CB13-633D-CDB32739A858}"/>
              </a:ext>
            </a:extLst>
          </p:cNvPr>
          <p:cNvSpPr>
            <a:spLocks noGrp="1"/>
          </p:cNvSpPr>
          <p:nvPr>
            <p:ph type="sldNum" sz="quarter" idx="12"/>
          </p:nvPr>
        </p:nvSpPr>
        <p:spPr/>
        <p:txBody>
          <a:bodyPr/>
          <a:lstStyle/>
          <a:p>
            <a:fld id="{65DCBD69-296B-4D7C-AF62-9B588FC78772}" type="slidenum">
              <a:rPr lang="en-IN" smtClean="0"/>
              <a:t>25</a:t>
            </a:fld>
            <a:endParaRPr lang="en-IN"/>
          </a:p>
        </p:txBody>
      </p:sp>
      <p:pic>
        <p:nvPicPr>
          <p:cNvPr id="8" name="Picture 7">
            <a:extLst>
              <a:ext uri="{FF2B5EF4-FFF2-40B4-BE49-F238E27FC236}">
                <a16:creationId xmlns:a16="http://schemas.microsoft.com/office/drawing/2014/main" id="{E5BCE51E-C9FA-C4DC-A669-F6FC5B9C76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335" y="1076960"/>
            <a:ext cx="5315545" cy="3949920"/>
          </a:xfrm>
          <a:prstGeom prst="rect">
            <a:avLst/>
          </a:prstGeom>
        </p:spPr>
      </p:pic>
      <p:pic>
        <p:nvPicPr>
          <p:cNvPr id="10" name="Picture 9">
            <a:extLst>
              <a:ext uri="{FF2B5EF4-FFF2-40B4-BE49-F238E27FC236}">
                <a16:creationId xmlns:a16="http://schemas.microsoft.com/office/drawing/2014/main" id="{32E6880C-7651-2F51-0E59-E11D9B2893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9999" y="1209040"/>
            <a:ext cx="5557724" cy="3649076"/>
          </a:xfrm>
          <a:prstGeom prst="rect">
            <a:avLst/>
          </a:prstGeom>
        </p:spPr>
      </p:pic>
    </p:spTree>
    <p:extLst>
      <p:ext uri="{BB962C8B-B14F-4D97-AF65-F5344CB8AC3E}">
        <p14:creationId xmlns:p14="http://schemas.microsoft.com/office/powerpoint/2010/main" val="30090528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CONCLUSION and FUTURE SCOPE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631661"/>
            <a:ext cx="10515600" cy="4351338"/>
          </a:xfrm>
        </p:spPr>
        <p:txBody>
          <a:bodyPr>
            <a:normAutofit/>
          </a:bodyPr>
          <a:lstStyle/>
          <a:p>
            <a:pPr marL="0" indent="0">
              <a:buNone/>
            </a:pPr>
            <a:r>
              <a:rPr lang="en-US" b="1" u="sng" dirty="0">
                <a:latin typeface="Times New Roman" panose="02020603050405020304" pitchFamily="18" charset="0"/>
                <a:cs typeface="Times New Roman" panose="02020603050405020304" pitchFamily="18" charset="0"/>
              </a:rPr>
              <a:t>Conclusion</a:t>
            </a:r>
          </a:p>
          <a:p>
            <a:r>
              <a:rPr lang="en-US" dirty="0"/>
              <a:t>Successfully developed an explainable deep learning framework for predicting road traffic accident severity using </a:t>
            </a:r>
            <a:r>
              <a:rPr lang="en-US" b="1" dirty="0"/>
              <a:t>CNN–</a:t>
            </a:r>
            <a:r>
              <a:rPr lang="en-US" b="1" dirty="0" err="1"/>
              <a:t>BiLSTM</a:t>
            </a:r>
            <a:r>
              <a:rPr lang="en-US" b="1" dirty="0"/>
              <a:t>–Attention</a:t>
            </a:r>
            <a:r>
              <a:rPr lang="en-US" dirty="0"/>
              <a:t>.</a:t>
            </a:r>
          </a:p>
          <a:p>
            <a:r>
              <a:rPr lang="en-US" dirty="0"/>
              <a:t>Demonstrated the importance of combining </a:t>
            </a:r>
            <a:r>
              <a:rPr lang="en-US" b="1" dirty="0"/>
              <a:t>spatial</a:t>
            </a:r>
            <a:r>
              <a:rPr lang="en-US" dirty="0"/>
              <a:t> and </a:t>
            </a:r>
            <a:r>
              <a:rPr lang="en-US" b="1" dirty="0"/>
              <a:t>temporal</a:t>
            </a:r>
            <a:r>
              <a:rPr lang="en-US" dirty="0"/>
              <a:t> features to improve prediction performance in real-world accident datasets.</a:t>
            </a:r>
          </a:p>
          <a:p>
            <a:r>
              <a:rPr lang="en-US" dirty="0"/>
              <a:t>Integrated </a:t>
            </a:r>
            <a:r>
              <a:rPr lang="en-US" b="1" dirty="0"/>
              <a:t>SHAP</a:t>
            </a:r>
            <a:r>
              <a:rPr lang="en-US" dirty="0"/>
              <a:t> to identify key factors influencing accident severity, ensuring transparency and trust in the model’s decisions.</a:t>
            </a:r>
          </a:p>
          <a:p>
            <a:pPr marL="0" indent="0">
              <a:buNone/>
            </a:pPr>
            <a:endParaRPr lang="en-US" b="1" u="sng"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9004744-3EC2-4F6C-B827-49FBB46C87F5}" type="datetime1">
              <a:rPr lang="en-IN" smtClean="0">
                <a:latin typeface="Times New Roman" panose="02020603050405020304" pitchFamily="18" charset="0"/>
                <a:cs typeface="Times New Roman" panose="02020603050405020304" pitchFamily="18" charset="0"/>
              </a:rPr>
              <a:t>10-02-2026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26</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11037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CONCLUSION and FUTURE SCOPE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631661"/>
            <a:ext cx="10515600" cy="4351338"/>
          </a:xfrm>
        </p:spPr>
        <p:txBody>
          <a:bodyPr>
            <a:normAutofit/>
          </a:bodyPr>
          <a:lstStyle/>
          <a:p>
            <a:pPr marL="0" indent="0">
              <a:buNone/>
            </a:pPr>
            <a:r>
              <a:rPr lang="en-US" b="1" u="sng" dirty="0">
                <a:latin typeface="Times New Roman" panose="02020603050405020304" pitchFamily="18" charset="0"/>
                <a:cs typeface="Times New Roman" panose="02020603050405020304" pitchFamily="18" charset="0"/>
              </a:rPr>
              <a:t>Future Scope</a:t>
            </a:r>
            <a:endParaRPr lang="en-US" dirty="0"/>
          </a:p>
          <a:p>
            <a:r>
              <a:rPr lang="en-US" dirty="0"/>
              <a:t>Extend the framework to support </a:t>
            </a:r>
            <a:r>
              <a:rPr lang="en-US" b="1" dirty="0"/>
              <a:t>real-time accident risk prediction</a:t>
            </a:r>
            <a:r>
              <a:rPr lang="en-US" dirty="0"/>
              <a:t> using live traffic and weather data.</a:t>
            </a:r>
          </a:p>
          <a:p>
            <a:r>
              <a:rPr lang="en-US" dirty="0"/>
              <a:t>Integrate IoT sensors, GPS inputs, and external APIs for continuous monitoring and early-warning systems.</a:t>
            </a:r>
          </a:p>
          <a:p>
            <a:r>
              <a:rPr lang="en-US" dirty="0"/>
              <a:t>Apply the model to datasets from multiple countries to improve generalization and global road safety planning.</a:t>
            </a:r>
          </a:p>
          <a:p>
            <a:pPr marL="0" indent="0">
              <a:buNone/>
            </a:pPr>
            <a:endParaRPr lang="en-US" b="1" u="sng"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9004744-3EC2-4F6C-B827-49FBB46C87F5}" type="datetime1">
              <a:rPr lang="en-IN" smtClean="0">
                <a:latin typeface="Times New Roman" panose="02020603050405020304" pitchFamily="18" charset="0"/>
                <a:cs typeface="Times New Roman" panose="02020603050405020304" pitchFamily="18" charset="0"/>
              </a:rPr>
              <a:t>10-02-2026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27</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7737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REFERENCES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713702"/>
          </a:xfrm>
        </p:spPr>
        <p:txBody>
          <a:bodyPr>
            <a:normAutofit lnSpcReduction="10000"/>
          </a:bodyPr>
          <a:lstStyle/>
          <a:p>
            <a:pPr algn="just"/>
            <a:r>
              <a:rPr lang="en-US" sz="2400" dirty="0"/>
              <a:t>World Health Organization (WHO), “Global facts on traffic related injuries,” https://www.who.int/news-room/fact-sheets/ detail/road-traffic-injuries, 2022, fact Sheet.</a:t>
            </a:r>
          </a:p>
          <a:p>
            <a:pPr algn="just"/>
            <a:r>
              <a:rPr lang="en-US" sz="2400" dirty="0"/>
              <a:t> M. Islam, K. N. Habib, and N. </a:t>
            </a:r>
            <a:r>
              <a:rPr lang="en-US" sz="2400" dirty="0" err="1"/>
              <a:t>Eluru</a:t>
            </a:r>
            <a:r>
              <a:rPr lang="en-US" sz="2400" dirty="0"/>
              <a:t>, “Application of machine learning techniques to assess traffic crash injury outcomes,” Transportation Research Part C, vol. 135, p. 103547, 2022. </a:t>
            </a:r>
          </a:p>
          <a:p>
            <a:pPr algn="just"/>
            <a:r>
              <a:rPr lang="en-US" sz="2400" dirty="0"/>
              <a:t>M. Zheng et al., “</a:t>
            </a:r>
            <a:r>
              <a:rPr lang="en-US" sz="2400" dirty="0" err="1"/>
              <a:t>Cnn</a:t>
            </a:r>
            <a:r>
              <a:rPr lang="en-US" sz="2400" dirty="0"/>
              <a:t>-based deep learning framework for predicting traffic crash severity,” https://www.researchgate.net/ publication/331583833, 2019. </a:t>
            </a:r>
          </a:p>
          <a:p>
            <a:pPr algn="just"/>
            <a:r>
              <a:rPr lang="en-US" sz="2400" dirty="0"/>
              <a:t>O. I. Omar, “Enhancing accident severity forecasting with </a:t>
            </a:r>
            <a:r>
              <a:rPr lang="en-US" sz="2400" dirty="0" err="1"/>
              <a:t>mobilenet</a:t>
            </a:r>
            <a:r>
              <a:rPr lang="en-US" sz="2400" dirty="0"/>
              <a:t> and </a:t>
            </a:r>
            <a:r>
              <a:rPr lang="en-US" sz="2400" dirty="0" err="1"/>
              <a:t>shap</a:t>
            </a:r>
            <a:r>
              <a:rPr lang="en-US" sz="2400" dirty="0"/>
              <a:t> explanations,” https://www.researchgate.net/ publication/379695758, 2024.</a:t>
            </a:r>
          </a:p>
          <a:p>
            <a:pPr algn="just"/>
            <a:r>
              <a:rPr lang="en-US" sz="2400" dirty="0"/>
              <a:t>  Y. Wang, Y. Song, and J. Wu, “Predicting accident occurrence using spatial-temporal attention networks,” https://arxiv.org/abs/ 2106.10197, 2021, arXiv:2106.10197.</a:t>
            </a:r>
            <a:endParaRPr lang="en-IN" sz="2200" dirty="0">
              <a:latin typeface="Times New Roman" panose="02020603050405020304" pitchFamily="18" charset="0"/>
              <a:cs typeface="Times New Roman" panose="02020603050405020304" pitchFamily="18" charset="0"/>
            </a:endParaRPr>
          </a:p>
          <a:p>
            <a:pPr algn="just"/>
            <a:endParaRPr lang="en-US" sz="22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E8CC95F2-E5AB-40D3-89E3-CE93C4583494}" type="datetime1">
              <a:rPr lang="en-IN" smtClean="0">
                <a:latin typeface="Times New Roman" panose="02020603050405020304" pitchFamily="18" charset="0"/>
                <a:cs typeface="Times New Roman" panose="02020603050405020304" pitchFamily="18" charset="0"/>
              </a:rPr>
              <a:t>10-02-2026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28</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34945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803564"/>
            <a:ext cx="10515600" cy="5403272"/>
          </a:xfrm>
        </p:spPr>
        <p:txBody>
          <a:bodyPr>
            <a:normAutofit fontScale="92500" lnSpcReduction="10000"/>
          </a:bodyPr>
          <a:lstStyle/>
          <a:p>
            <a:pPr algn="just"/>
            <a:r>
              <a:rPr lang="en-IN" sz="2400" dirty="0"/>
              <a:t>S. M. Lundberg and S. I. Lee, “Interpreting predictions of complex models using </a:t>
            </a:r>
            <a:r>
              <a:rPr lang="en-IN" sz="2400" dirty="0" err="1"/>
              <a:t>shap</a:t>
            </a:r>
            <a:r>
              <a:rPr lang="en-IN" sz="2400" dirty="0"/>
              <a:t>,” in Advances in Neural Information Processing Systems (</a:t>
            </a:r>
            <a:r>
              <a:rPr lang="en-IN" sz="2400" dirty="0" err="1"/>
              <a:t>NeurIPS</a:t>
            </a:r>
            <a:r>
              <a:rPr lang="en-IN" sz="2400" dirty="0"/>
              <a:t>), vol. 30, 2017. </a:t>
            </a:r>
          </a:p>
          <a:p>
            <a:pPr algn="just"/>
            <a:r>
              <a:rPr lang="en-IN" sz="2400" dirty="0"/>
              <a:t>“Using interpretable ai for </a:t>
            </a:r>
            <a:r>
              <a:rPr lang="en-IN" sz="2400" dirty="0" err="1"/>
              <a:t>analyzing</a:t>
            </a:r>
            <a:r>
              <a:rPr lang="en-IN" sz="2400" dirty="0"/>
              <a:t> risks in road accidents,” https://www.nature.com/articles/s41598-025-00797-7, 2025.</a:t>
            </a:r>
          </a:p>
          <a:p>
            <a:pPr algn="just"/>
            <a:r>
              <a:rPr lang="en-IN" sz="2400" dirty="0"/>
              <a:t>  Y. Wang, J. Zhao, and Y. Zhou, “Tunnel accident risk evaluation using multi-source data and fusion models,” Electronics, vol. 13, no. 7, 2024. [Online]. Available: https://www.mdpi.com/ 2673-2688/6/7/145 </a:t>
            </a:r>
          </a:p>
          <a:p>
            <a:pPr algn="just"/>
            <a:r>
              <a:rPr lang="en-IN" sz="2400" dirty="0"/>
              <a:t>H. Tian, L. Zhang, and C. Xu, “Assessing intersection risk through multi-modal aerial imagery and deep learning,” in Pro </a:t>
            </a:r>
            <a:r>
              <a:rPr lang="en-IN" sz="2400" dirty="0" err="1"/>
              <a:t>ceedings</a:t>
            </a:r>
            <a:r>
              <a:rPr lang="en-IN" sz="2400" dirty="0"/>
              <a:t> of the IEEE International Conference on Computer Vision, 2021. </a:t>
            </a:r>
          </a:p>
          <a:p>
            <a:pPr algn="just"/>
            <a:r>
              <a:rPr lang="en-IN" sz="2400" dirty="0"/>
              <a:t>R. Zepf, D. </a:t>
            </a:r>
            <a:r>
              <a:rPr lang="en-IN" sz="2400" dirty="0" err="1"/>
              <a:t>Watzenig</a:t>
            </a:r>
            <a:r>
              <a:rPr lang="en-IN" sz="2400" dirty="0"/>
              <a:t>, and M. Stolz, “</a:t>
            </a:r>
            <a:r>
              <a:rPr lang="en-IN" sz="2400" dirty="0" err="1"/>
              <a:t>Modeling</a:t>
            </a:r>
            <a:r>
              <a:rPr lang="en-IN" sz="2400" dirty="0"/>
              <a:t> safety impacts of human error through traffic simulations,” in Proceedings of the IEEE Intelligent Transportation Systems Conference (ITSC), 2022. </a:t>
            </a:r>
          </a:p>
          <a:p>
            <a:pPr algn="just"/>
            <a:r>
              <a:rPr lang="en-IN" sz="2400" dirty="0"/>
              <a:t>V. Chandrasekhar, R. Suganya, and B. Narayanan, “Design of a real-time system for detecting anomalies in traffic flow,” Transportation Research Procedia, vol. 68, pp. 27–36, 2023.</a:t>
            </a:r>
            <a:endParaRPr lang="en-US" sz="22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E8CC95F2-E5AB-40D3-89E3-CE93C4583494}" type="datetime1">
              <a:rPr lang="en-IN" smtClean="0">
                <a:latin typeface="Times New Roman" panose="02020603050405020304" pitchFamily="18" charset="0"/>
                <a:cs typeface="Times New Roman" panose="02020603050405020304" pitchFamily="18" charset="0"/>
              </a:rPr>
              <a:t>10-02-2026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29</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95567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803564"/>
            <a:ext cx="10515600" cy="5403272"/>
          </a:xfrm>
        </p:spPr>
        <p:txBody>
          <a:bodyPr>
            <a:normAutofit fontScale="92500" lnSpcReduction="20000"/>
          </a:bodyPr>
          <a:lstStyle/>
          <a:p>
            <a:pPr algn="just"/>
            <a:r>
              <a:rPr lang="en-IN" sz="2400" dirty="0"/>
              <a:t>H. Shim, M. Choi, and K. Kim, “Mapping risk for autonomous vehicles in complex terrains using probabilistic methods,” Sen </a:t>
            </a:r>
            <a:r>
              <a:rPr lang="en-IN" sz="2400" dirty="0" err="1"/>
              <a:t>sors</a:t>
            </a:r>
            <a:r>
              <a:rPr lang="en-IN" sz="2400" dirty="0"/>
              <a:t>, vol. 23, no. 1, 2023. </a:t>
            </a:r>
          </a:p>
          <a:p>
            <a:pPr algn="just"/>
            <a:r>
              <a:rPr lang="en-IN" sz="2400" dirty="0"/>
              <a:t>M. Thakur and A. Verma, “An </a:t>
            </a:r>
            <a:r>
              <a:rPr lang="en-IN" sz="2400" dirty="0" err="1"/>
              <a:t>iot</a:t>
            </a:r>
            <a:r>
              <a:rPr lang="en-IN" sz="2400" dirty="0"/>
              <a:t>-based alert mechanism for enhancing vehicular safety,” International Journal of Computer Applications, vol. 181, no. 3, 2022. </a:t>
            </a:r>
          </a:p>
          <a:p>
            <a:pPr algn="just"/>
            <a:r>
              <a:rPr lang="en-IN" sz="2400" dirty="0"/>
              <a:t>Y. Jeong, H. Kim, and S. Park, “Vision-based accident risk prediction using driver gaze divergence from in-vehicle cameras,” IEEE Transactions on Intelligent Transportation Systems, vol. 24, no. 5, pp. 4560–4572, 2024. </a:t>
            </a:r>
          </a:p>
          <a:p>
            <a:pPr algn="just"/>
            <a:r>
              <a:rPr lang="en-IN" sz="2400" dirty="0"/>
              <a:t>X. Liang, G. Ma, and S. Lin, “Estimating crash likelihood from satellite data using multi-scale convolutional networks,” in Proceedings of the AAAI Conference on Artificial Intelligence, 2023. </a:t>
            </a:r>
          </a:p>
          <a:p>
            <a:pPr algn="just"/>
            <a:r>
              <a:rPr lang="en-IN" sz="2400" dirty="0"/>
              <a:t>D. </a:t>
            </a:r>
            <a:r>
              <a:rPr lang="en-IN" sz="2400" dirty="0" err="1"/>
              <a:t>Venkatareddy</a:t>
            </a:r>
            <a:r>
              <a:rPr lang="en-IN" sz="2400" dirty="0"/>
              <a:t>, K. Reddy, and </a:t>
            </a:r>
            <a:r>
              <a:rPr lang="en-IN" sz="2400" dirty="0" err="1"/>
              <a:t>Y.Sowmya</a:t>
            </a:r>
            <a:r>
              <a:rPr lang="en-IN" sz="2400" dirty="0"/>
              <a:t>, “Explainable </a:t>
            </a:r>
            <a:r>
              <a:rPr lang="en-IN" sz="2400" dirty="0" err="1"/>
              <a:t>fetal</a:t>
            </a:r>
            <a:r>
              <a:rPr lang="en-IN" sz="2400" dirty="0"/>
              <a:t> ultrasound classification with </a:t>
            </a:r>
            <a:r>
              <a:rPr lang="en-IN" sz="2400" dirty="0" err="1"/>
              <a:t>cnn</a:t>
            </a:r>
            <a:r>
              <a:rPr lang="en-IN" sz="2400" dirty="0"/>
              <a:t> and </a:t>
            </a:r>
            <a:r>
              <a:rPr lang="en-IN" sz="2400" dirty="0" err="1"/>
              <a:t>mlp</a:t>
            </a:r>
            <a:r>
              <a:rPr lang="en-IN" sz="2400" dirty="0"/>
              <a:t> models,” in 2024 First International Conference on Innovations in Communications, Electrical and Computer Engineering (ICICEC). IEEE, 2024.</a:t>
            </a:r>
          </a:p>
          <a:p>
            <a:pPr algn="just"/>
            <a:r>
              <a:rPr lang="en-IN" sz="2400" dirty="0"/>
              <a:t>J. Gao, Y. Luo, and Z. Huang, “Kalman filtering-based approach for predicting vehicle collision probabilities,” IEEE Transactions on Intelligent Vehicles, vol. 8, no. 2, pp. 148–156, 2023. </a:t>
            </a:r>
          </a:p>
          <a:p>
            <a:pPr algn="just"/>
            <a:r>
              <a:rPr lang="en-IN" sz="2400" dirty="0"/>
              <a:t>S. Moturi, S. Tata, S. Katragadda, V. P. K. </a:t>
            </a:r>
            <a:r>
              <a:rPr lang="en-IN" sz="2400" dirty="0" err="1"/>
              <a:t>Laghumavarapu</a:t>
            </a:r>
            <a:r>
              <a:rPr lang="en-IN" sz="2400" dirty="0"/>
              <a:t>, B. Lingala, and D. V. Reddy, “Automated traffic sign recognition via </a:t>
            </a:r>
            <a:r>
              <a:rPr lang="en-IN" sz="2400" dirty="0" err="1"/>
              <a:t>cnn</a:t>
            </a:r>
            <a:r>
              <a:rPr lang="en-IN" sz="2400" dirty="0"/>
              <a:t> deep learning,” in Proc. 1st Int. Conf. for Women in Computing (</a:t>
            </a:r>
            <a:r>
              <a:rPr lang="en-IN" sz="2400" dirty="0" err="1"/>
              <a:t>InCoWoCo</a:t>
            </a:r>
            <a:r>
              <a:rPr lang="en-IN" sz="2400" dirty="0"/>
              <a:t>), 2024</a:t>
            </a:r>
            <a:r>
              <a:rPr lang="en-US" sz="2200" dirty="0">
                <a:latin typeface="Times New Roman" panose="02020603050405020304" pitchFamily="18" charset="0"/>
                <a:cs typeface="Times New Roman" panose="02020603050405020304" pitchFamily="18" charset="0"/>
              </a:rPr>
              <a:t>.</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E8CC95F2-E5AB-40D3-89E3-CE93C4583494}" type="datetime1">
              <a:rPr lang="en-IN" smtClean="0">
                <a:latin typeface="Times New Roman" panose="02020603050405020304" pitchFamily="18" charset="0"/>
                <a:cs typeface="Times New Roman" panose="02020603050405020304" pitchFamily="18" charset="0"/>
              </a:rPr>
              <a:t>10-02-2026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30</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87467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QUESTIONS and ANSWERS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Open the floor for questions from the audience</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AD8EBE51-9CAA-4E70-B92A-2FCFD8529918}" type="datetime1">
              <a:rPr lang="en-IN" smtClean="0">
                <a:latin typeface="Times New Roman" panose="02020603050405020304" pitchFamily="18" charset="0"/>
                <a:cs typeface="Times New Roman" panose="02020603050405020304" pitchFamily="18" charset="0"/>
              </a:rPr>
              <a:t>10-02-2026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31</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49772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ACKNOWLEGEMENTS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Express gratitude for the opportunity to present</a:t>
            </a:r>
          </a:p>
          <a:p>
            <a:r>
              <a:rPr lang="en-US" dirty="0">
                <a:latin typeface="Times New Roman" panose="02020603050405020304" pitchFamily="18" charset="0"/>
                <a:cs typeface="Times New Roman" panose="02020603050405020304" pitchFamily="18" charset="0"/>
              </a:rPr>
              <a:t>Provide contact information for further inquiries</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6B401586-5A49-4B41-AAB7-E4C4E472E0B5}" type="datetime1">
              <a:rPr lang="en-IN" smtClean="0">
                <a:latin typeface="Times New Roman" panose="02020603050405020304" pitchFamily="18" charset="0"/>
                <a:cs typeface="Times New Roman" panose="02020603050405020304" pitchFamily="18" charset="0"/>
              </a:rPr>
              <a:t>10-02-2026</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AG2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32</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7917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2214</TotalTime>
  <Words>3190</Words>
  <Application>Microsoft Office PowerPoint</Application>
  <PresentationFormat>Widescreen</PresentationFormat>
  <Paragraphs>302</Paragraphs>
  <Slides>32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Calibri Light</vt:lpstr>
      <vt:lpstr>Times New Roman</vt:lpstr>
      <vt:lpstr>Wingdings</vt:lpstr>
      <vt:lpstr>Office Theme</vt:lpstr>
      <vt:lpstr>PowerPoint Presentation</vt:lpstr>
      <vt:lpstr>PowerPoint Presentation</vt:lpstr>
      <vt:lpstr>OUTLINE</vt:lpstr>
      <vt:lpstr>ABSTRACT</vt:lpstr>
      <vt:lpstr>INTRODUCTION</vt:lpstr>
      <vt:lpstr>LITERATURE SURVEY</vt:lpstr>
      <vt:lpstr>LITERATURE SURVEY</vt:lpstr>
      <vt:lpstr>PROBLEM STATEMENT</vt:lpstr>
      <vt:lpstr>RESEARCH GAPS</vt:lpstr>
      <vt:lpstr>OBJECTIVES</vt:lpstr>
      <vt:lpstr>BLOCK DIAGRAM OR FLOW DIAGRAM</vt:lpstr>
      <vt:lpstr>METHODOLOGY</vt:lpstr>
      <vt:lpstr>About Dataset</vt:lpstr>
      <vt:lpstr>Data Preprocessing and Balancing</vt:lpstr>
      <vt:lpstr>Feature Engineering </vt:lpstr>
      <vt:lpstr>PowerPoint Presentation</vt:lpstr>
      <vt:lpstr>PowerPoint Presentation</vt:lpstr>
      <vt:lpstr>PowerPoint Presentation</vt:lpstr>
      <vt:lpstr>IMPLEMENTATION</vt:lpstr>
      <vt:lpstr>Results:</vt:lpstr>
      <vt:lpstr>RESULTS &amp; ANALYSIS</vt:lpstr>
      <vt:lpstr>PowerPoint Presentation</vt:lpstr>
      <vt:lpstr>PowerPoint Presentation</vt:lpstr>
      <vt:lpstr>PowerPoint Presentation</vt:lpstr>
      <vt:lpstr>PowerPoint Presentation</vt:lpstr>
      <vt:lpstr>CONCLUSION and FUTURE SCOPE</vt:lpstr>
      <vt:lpstr>CONCLUSION and FUTURE SCOPE</vt:lpstr>
      <vt:lpstr>REFERENCES</vt:lpstr>
      <vt:lpstr>PowerPoint Presentation</vt:lpstr>
      <vt:lpstr>PowerPoint Presentation</vt:lpstr>
      <vt:lpstr>QUESTIONS and ANSWERS</vt:lpstr>
      <vt:lpstr>ACKNOWLEGEMENTS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admin</dc:creator>
  <cp:lastModifiedBy>KALLAM Thirupatamma</cp:lastModifiedBy>
  <cp:revision>71</cp:revision>
  <dcterms:created xsi:type="dcterms:W3CDTF">2023-12-22T11:34:02Z</dcterms:created>
  <dcterms:modified xsi:type="dcterms:W3CDTF">2026-02-10T13:45:23Z</dcterms:modified>
</cp:coreProperties>
</file>